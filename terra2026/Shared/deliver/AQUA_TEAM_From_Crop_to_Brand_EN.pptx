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3" roundtripDataSignature="AMtx7mhhh5a6RK3zsHttjRIx9+psxfRC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8" d="100"/>
          <a:sy n="68" d="100"/>
        </p:scale>
        <p:origin x="1234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" name="Google Shape;2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" name="Google Shape;5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" name="Google Shape;7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f05be249d1_2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g3f05be249d1_2_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g3f05be249d1_2_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0" name="Google Shape;15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1" name="Google Shape;18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1" name="Google Shape;21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1" name="Google Shape;24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1" name="Google Shape;271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4" name="Google Shape;284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5" name="Google Shape;335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3" name="Google Shape;363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8" name="Google Shape;37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5" name="Google Shape;40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2" name="Google Shape;43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9" name="Google Shape;459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hyperlink" Target="https://tjimmy0113.github.io/tu-lu-toolkit/" TargetMode="External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4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jp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jp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jp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9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jpg"/><Relationship Id="rId3" Type="http://schemas.openxmlformats.org/officeDocument/2006/relationships/image" Target="../media/image23.png"/><Relationship Id="rId7" Type="http://schemas.openxmlformats.org/officeDocument/2006/relationships/image" Target="../media/image47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Relationship Id="rId9" Type="http://schemas.openxmlformats.org/officeDocument/2006/relationships/image" Target="../media/image49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0.jp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D1C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10424160" y="3291840"/>
            <a:ext cx="3840480" cy="3840480"/>
          </a:xfrm>
          <a:prstGeom prst="ellipse">
            <a:avLst/>
          </a:prstGeom>
          <a:solidFill>
            <a:srgbClr val="6E9E4F">
              <a:alpha val="4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-1280160" y="4754880"/>
            <a:ext cx="3657600" cy="3657600"/>
          </a:xfrm>
          <a:prstGeom prst="ellipse">
            <a:avLst/>
          </a:prstGeom>
          <a:solidFill>
            <a:srgbClr val="2C5F2D">
              <a:alpha val="7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" name="Google Shape;19;p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5800" y="960120"/>
            <a:ext cx="822960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"/>
          <p:cNvSpPr/>
          <p:nvPr/>
        </p:nvSpPr>
        <p:spPr>
          <a:xfrm>
            <a:off x="1645920" y="1024128"/>
            <a:ext cx="5486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7BC62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200" b="1" i="0" u="none" strike="noStrike" cap="none">
                <a:solidFill>
                  <a:srgbClr val="97BC62"/>
                </a:solidFill>
                <a:latin typeface="Arial"/>
                <a:ea typeface="Arial"/>
                <a:cs typeface="Arial"/>
                <a:sym typeface="Arial"/>
              </a:rPr>
              <a:t>QUA TEAM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685800" y="2286000"/>
            <a:ext cx="100584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00"/>
              <a:buFont typeface="Arial"/>
              <a:buNone/>
            </a:pPr>
            <a:r>
              <a:rPr lang="en-US" sz="5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From Crop to Brand</a:t>
            </a:r>
            <a:endParaRPr sz="5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685800" y="3429000"/>
            <a:ext cx="6963697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lang="en-US" sz="30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Toolkit for Small Farmers</a:t>
            </a:r>
            <a:r>
              <a:rPr lang="en-US" sz="3000" b="1" i="0" u="none" strike="noStrike" cap="none" dirty="0">
                <a:solidFill>
                  <a:srgbClr val="D6A340"/>
                </a:solidFill>
                <a:latin typeface="Arial"/>
                <a:ea typeface="Arial"/>
                <a:cs typeface="Arial"/>
                <a:sym typeface="Arial"/>
              </a:rPr>
              <a:t> to Start From Zero</a:t>
            </a:r>
            <a:r>
              <a:rPr lang="en-US" sz="30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and Build a Pastoral Life</a:t>
            </a:r>
            <a:endParaRPr sz="3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713232" y="434340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7BC62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97BC62"/>
                </a:solidFill>
                <a:latin typeface="Arial"/>
                <a:ea typeface="Arial"/>
                <a:cs typeface="Arial"/>
                <a:sym typeface="Arial"/>
              </a:rPr>
              <a:t>From Crop to Brand  ·  Multi-Use Crops × Brand Loyalty × Stable Income Model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713232" y="580644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7D3BC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C7D3BC"/>
                </a:solidFill>
                <a:latin typeface="Arial"/>
                <a:ea typeface="Arial"/>
                <a:cs typeface="Arial"/>
                <a:sym typeface="Arial"/>
              </a:rPr>
              <a:t>5 Days, 4 Nights of Rural Field Study · A Practical Proposal for the Pastoral Dream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" name="Google Shape;25;p1" title="LINE_ALBUM_簡報用_260702_5.jpg"/>
          <p:cNvPicPr preferRelativeResize="0"/>
          <p:nvPr/>
        </p:nvPicPr>
        <p:blipFill rotWithShape="1">
          <a:blip r:embed="rId4">
            <a:alphaModFix/>
          </a:blip>
          <a:srcRect r="25345"/>
          <a:stretch/>
        </p:blipFill>
        <p:spPr>
          <a:xfrm>
            <a:off x="8351175" y="0"/>
            <a:ext cx="3840500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4"/>
        </a:solid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713C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B0713C"/>
                </a:solidFill>
                <a:latin typeface="Arial"/>
                <a:ea typeface="Arial"/>
                <a:cs typeface="Arial"/>
                <a:sym typeface="Arial"/>
              </a:rPr>
              <a:t>Opening · THE CHALLENGE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32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C5F2D"/>
                </a:solidFill>
                <a:latin typeface="Arial"/>
                <a:ea typeface="Arial"/>
                <a:cs typeface="Arial"/>
                <a:sym typeface="Arial"/>
              </a:rPr>
              <a:t>Many People Dream of a Pastoral Life, but Reality Gets in the Way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640080" y="160020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We found that the biggest challenge in rural experiences and small-farm entrepreneurship isn’t passion — it’s whether the economics can hold up. This toolkit was built to answer that question.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640080" y="251460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1005840" y="2926080"/>
            <a:ext cx="1005840" cy="100584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6" name="Google Shape;36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61872" y="3182112"/>
            <a:ext cx="493776" cy="493776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2"/>
          <p:cNvSpPr/>
          <p:nvPr/>
        </p:nvSpPr>
        <p:spPr>
          <a:xfrm>
            <a:off x="3063240" y="283464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3F5EC"/>
              </a:buClr>
              <a:buSzPts val="3800"/>
              <a:buFont typeface="Arial"/>
              <a:buNone/>
            </a:pPr>
            <a:r>
              <a:rPr lang="en-US" sz="3800" b="1" i="0" u="none" strike="noStrike" cap="none">
                <a:solidFill>
                  <a:srgbClr val="F3F5EC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3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1005840" y="4114800"/>
            <a:ext cx="2788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2E26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Multi-Use Crops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005840" y="4617720"/>
            <a:ext cx="28803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450"/>
              <a:buFont typeface="Arial"/>
              <a:buNone/>
            </a:pPr>
            <a:r>
              <a:rPr lang="en-US" sz="1450" b="0" i="0" u="none" strike="noStrike" cap="non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Squeeze every bit of value from the crop through the most effective use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4544568" y="251460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4910328" y="2926080"/>
            <a:ext cx="1005840" cy="1005840"/>
          </a:xfrm>
          <a:prstGeom prst="ellipse">
            <a:avLst/>
          </a:prstGeom>
          <a:solidFill>
            <a:srgbClr val="B0713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2" name="Google Shape;42;p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66360" y="3182112"/>
            <a:ext cx="493776" cy="493776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2"/>
          <p:cNvSpPr/>
          <p:nvPr/>
        </p:nvSpPr>
        <p:spPr>
          <a:xfrm>
            <a:off x="6967728" y="283464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3F5EC"/>
              </a:buClr>
              <a:buSzPts val="3800"/>
              <a:buFont typeface="Arial"/>
              <a:buNone/>
            </a:pPr>
            <a:r>
              <a:rPr lang="en-US" sz="3800" b="1" i="0" u="none" strike="noStrike" cap="none">
                <a:solidFill>
                  <a:srgbClr val="F3F5EC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3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4910328" y="4114800"/>
            <a:ext cx="2788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2E26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Brand &amp; Word of Mouth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4910328" y="4617720"/>
            <a:ext cx="28803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450"/>
              <a:buFont typeface="Arial"/>
              <a:buNone/>
            </a:pPr>
            <a:r>
              <a:rPr lang="en-US" sz="1450" b="0" i="0" u="none" strike="noStrike" cap="non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From a one-time visitor to a long-term relationship — and referrals to friends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8449056" y="251460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8814816" y="2926080"/>
            <a:ext cx="1005840" cy="1005840"/>
          </a:xfrm>
          <a:prstGeom prst="ellipse">
            <a:avLst/>
          </a:prstGeom>
          <a:solidFill>
            <a:srgbClr val="D6A3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8" name="Google Shape;48;p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070848" y="3182112"/>
            <a:ext cx="493776" cy="493776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2"/>
          <p:cNvSpPr/>
          <p:nvPr/>
        </p:nvSpPr>
        <p:spPr>
          <a:xfrm>
            <a:off x="10872216" y="283464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3F5EC"/>
              </a:buClr>
              <a:buSzPts val="3800"/>
              <a:buFont typeface="Arial"/>
              <a:buNone/>
            </a:pPr>
            <a:r>
              <a:rPr lang="en-US" sz="3800" b="1" i="0" u="none" strike="noStrike" cap="none">
                <a:solidFill>
                  <a:srgbClr val="F3F5EC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3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8814816" y="4114800"/>
            <a:ext cx="2788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2E26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Stable Income Model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8814816" y="4617720"/>
            <a:ext cx="28803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450"/>
              <a:buFont typeface="Arial"/>
              <a:buNone/>
            </a:pPr>
            <a:r>
              <a:rPr lang="en-US" sz="1450" b="0" i="0" u="none" strike="noStrike" cap="non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The most important step: making income predictable and repeatable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457200" y="63550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AQUA TEAM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5F2D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/>
          <p:nvPr/>
        </p:nvSpPr>
        <p:spPr>
          <a:xfrm>
            <a:off x="9326880" y="-1645920"/>
            <a:ext cx="5029200" cy="5029200"/>
          </a:xfrm>
          <a:prstGeom prst="ellipse">
            <a:avLst/>
          </a:prstGeom>
          <a:solidFill>
            <a:srgbClr val="1E3D1C">
              <a:alpha val="7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-1371600" y="4023360"/>
            <a:ext cx="4114800" cy="4114800"/>
          </a:xfrm>
          <a:prstGeom prst="ellipse">
            <a:avLst/>
          </a:prstGeom>
          <a:solidFill>
            <a:srgbClr val="6E9E4F">
              <a:alpha val="4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822960" y="192024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6A34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D6A340"/>
                </a:solidFill>
                <a:latin typeface="Arial"/>
                <a:ea typeface="Arial"/>
                <a:cs typeface="Arial"/>
                <a:sym typeface="Arial"/>
              </a:rPr>
              <a:t>PART 01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822960" y="2735471"/>
            <a:ext cx="7067973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lang="en-US" sz="48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How to Get Multiple Uses from One Crop</a:t>
            </a:r>
            <a:endParaRPr sz="4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841248" y="4107071"/>
            <a:ext cx="629333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7BC62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97BC62"/>
                </a:solidFill>
                <a:latin typeface="Arial"/>
                <a:ea typeface="Arial"/>
                <a:cs typeface="Arial"/>
                <a:sym typeface="Arial"/>
              </a:rPr>
              <a:t>From Crop to Brand — A Seven-Step Workflow from Agricultural Product to Brand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" name="Google Shape;64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1248" y="123444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3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457200" y="63550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AQUA TEAM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" name="Google Shape;67;p3" title="LINE_ALBUM_簡報用_260702_1.jpg"/>
          <p:cNvPicPr preferRelativeResize="0"/>
          <p:nvPr/>
        </p:nvPicPr>
        <p:blipFill rotWithShape="1">
          <a:blip r:embed="rId4">
            <a:alphaModFix/>
          </a:blip>
          <a:srcRect l="15627" r="15565"/>
          <a:stretch/>
        </p:blipFill>
        <p:spPr>
          <a:xfrm>
            <a:off x="7778813" y="3383275"/>
            <a:ext cx="4412850" cy="3608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3" title="LINE_ALBUM_簡報用_260702_4.jpg"/>
          <p:cNvPicPr preferRelativeResize="0"/>
          <p:nvPr/>
        </p:nvPicPr>
        <p:blipFill rotWithShape="1">
          <a:blip r:embed="rId5">
            <a:alphaModFix/>
          </a:blip>
          <a:srcRect l="12835" r="15899"/>
          <a:stretch/>
        </p:blipFill>
        <p:spPr>
          <a:xfrm>
            <a:off x="7778825" y="-101223"/>
            <a:ext cx="4412850" cy="34844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4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"/>
          <p:cNvSpPr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713C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B0713C"/>
                </a:solidFill>
                <a:latin typeface="Arial"/>
                <a:ea typeface="Arial"/>
                <a:cs typeface="Arial"/>
                <a:sym typeface="Arial"/>
              </a:rPr>
              <a:t>TOOLKIT OVERVIEW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2C5F2D"/>
                </a:solidFill>
                <a:latin typeface="Arial"/>
                <a:ea typeface="Arial"/>
                <a:cs typeface="Arial"/>
                <a:sym typeface="Arial"/>
              </a:rPr>
              <a:t>Agri-Processing Brand Toolkit | Seven Steps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640080" y="1691640"/>
            <a:ext cx="26517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868680" y="1947672"/>
            <a:ext cx="713232" cy="713232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8" name="Google Shape;78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2416" y="212140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4"/>
          <p:cNvSpPr/>
          <p:nvPr/>
        </p:nvSpPr>
        <p:spPr>
          <a:xfrm>
            <a:off x="1737360" y="196596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713C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B0713C"/>
                </a:solidFill>
                <a:latin typeface="Arial"/>
                <a:ea typeface="Arial"/>
                <a:cs typeface="Arial"/>
                <a:sym typeface="Arial"/>
              </a:rPr>
              <a:t>STEP 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1737360" y="2221992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2E26"/>
              </a:buClr>
              <a:buSzPts val="1550"/>
              <a:buFont typeface="Arial"/>
              <a:buNone/>
            </a:pPr>
            <a:r>
              <a:rPr lang="en-US" sz="1200" b="1" i="0" u="none" strike="noStrike" cap="none" dirty="0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Crop Resource Inventory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896112" y="2807208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Identify crop characteristics, surplus resources, and local advantages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3547872" y="1691640"/>
            <a:ext cx="26517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3776472" y="1947672"/>
            <a:ext cx="713232" cy="713232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4" name="Google Shape;84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50208" y="212140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4"/>
          <p:cNvSpPr/>
          <p:nvPr/>
        </p:nvSpPr>
        <p:spPr>
          <a:xfrm>
            <a:off x="4645152" y="196596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713C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B0713C"/>
                </a:solidFill>
                <a:latin typeface="Arial"/>
                <a:ea typeface="Arial"/>
                <a:cs typeface="Arial"/>
                <a:sym typeface="Arial"/>
              </a:rPr>
              <a:t>STEP 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4645152" y="2221992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2E26"/>
              </a:buClr>
              <a:buSzPts val="1550"/>
              <a:buFont typeface="Arial"/>
              <a:buNone/>
            </a:pPr>
            <a:r>
              <a:rPr lang="en-US" sz="1200" b="1" i="0" u="none" strike="noStrike" cap="none" dirty="0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Customer Needs Map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3803904" y="2807208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Clearly define the target audience and market demand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6455664" y="1691640"/>
            <a:ext cx="26517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6684264" y="1947672"/>
            <a:ext cx="713232" cy="713232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0" name="Google Shape;90;p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58000" y="212140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4"/>
          <p:cNvSpPr/>
          <p:nvPr/>
        </p:nvSpPr>
        <p:spPr>
          <a:xfrm>
            <a:off x="7552944" y="196596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713C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B0713C"/>
                </a:solidFill>
                <a:latin typeface="Arial"/>
                <a:ea typeface="Arial"/>
                <a:cs typeface="Arial"/>
                <a:sym typeface="Arial"/>
              </a:rPr>
              <a:t>STEP 3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7552944" y="2221992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2E26"/>
              </a:buClr>
              <a:buSzPts val="1550"/>
              <a:buFont typeface="Arial"/>
              <a:buNone/>
            </a:pPr>
            <a:r>
              <a:rPr lang="en-US" sz="1200" b="1" i="0" u="none" strike="noStrike" cap="non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Processing Possibilities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6711696" y="2807208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One crop, many possible processing directions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9363456" y="1691640"/>
            <a:ext cx="26517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9592056" y="1947672"/>
            <a:ext cx="713232" cy="713232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6" name="Google Shape;96;p4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65792" y="212140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4"/>
          <p:cNvSpPr/>
          <p:nvPr/>
        </p:nvSpPr>
        <p:spPr>
          <a:xfrm>
            <a:off x="10460736" y="196596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713C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B0713C"/>
                </a:solidFill>
                <a:latin typeface="Arial"/>
                <a:ea typeface="Arial"/>
                <a:cs typeface="Arial"/>
                <a:sym typeface="Arial"/>
              </a:rPr>
              <a:t>STEP 4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10460736" y="2221992"/>
            <a:ext cx="1618488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2E26"/>
              </a:buClr>
              <a:buSzPts val="1550"/>
              <a:buFont typeface="Arial"/>
              <a:buNone/>
            </a:pPr>
            <a:r>
              <a:rPr lang="en-US" sz="1200" b="1" i="0" u="none" strike="noStrike" cap="none" dirty="0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Case Studies &amp; Inspiration Library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9619488" y="2807208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Domestic and international success stories and cross-sector collaboration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2093976" y="3749040"/>
            <a:ext cx="26517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2322576" y="4005072"/>
            <a:ext cx="713232" cy="713232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2" name="Google Shape;102;p4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496312" y="417880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4"/>
          <p:cNvSpPr/>
          <p:nvPr/>
        </p:nvSpPr>
        <p:spPr>
          <a:xfrm>
            <a:off x="3108960" y="402336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713C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B0713C"/>
                </a:solidFill>
                <a:latin typeface="Arial"/>
                <a:ea typeface="Arial"/>
                <a:cs typeface="Arial"/>
                <a:sym typeface="Arial"/>
              </a:rPr>
              <a:t>STEP 5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3108960" y="4279392"/>
            <a:ext cx="1636776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2E26"/>
              </a:buClr>
              <a:buSzPts val="1550"/>
              <a:buFont typeface="Arial"/>
              <a:buNone/>
            </a:pPr>
            <a:r>
              <a:rPr lang="en-US" sz="1200" b="1" i="0" u="none" strike="noStrike" cap="none" dirty="0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Local Collaboration Network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2350008" y="4864608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Connecting small farmers, processors, designers, and researchers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5001768" y="3749040"/>
            <a:ext cx="26517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5230368" y="4005072"/>
            <a:ext cx="713232" cy="713232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8" name="Google Shape;108;p4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404104" y="417880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4"/>
          <p:cNvSpPr/>
          <p:nvPr/>
        </p:nvSpPr>
        <p:spPr>
          <a:xfrm>
            <a:off x="6099048" y="402336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713C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B0713C"/>
                </a:solidFill>
                <a:latin typeface="Arial"/>
                <a:ea typeface="Arial"/>
                <a:cs typeface="Arial"/>
                <a:sym typeface="Arial"/>
              </a:rPr>
              <a:t>STEP 6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6099048" y="4279392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2E26"/>
              </a:buClr>
              <a:buSzPts val="1550"/>
              <a:buFont typeface="Arial"/>
              <a:buNone/>
            </a:pPr>
            <a:r>
              <a:rPr lang="en-US" sz="1200" b="1" i="0" u="none" strike="noStrike" cap="non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Brand Story Template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5257800" y="4864608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Establish the brand’s philosophy, character, and local value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7909560" y="3749040"/>
            <a:ext cx="26517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8138160" y="4005072"/>
            <a:ext cx="713232" cy="713232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4" name="Google Shape;114;p4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11896" y="417880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4"/>
          <p:cNvSpPr/>
          <p:nvPr/>
        </p:nvSpPr>
        <p:spPr>
          <a:xfrm>
            <a:off x="9006840" y="402336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713C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B0713C"/>
                </a:solidFill>
                <a:latin typeface="Arial"/>
                <a:ea typeface="Arial"/>
                <a:cs typeface="Arial"/>
                <a:sym typeface="Arial"/>
              </a:rPr>
              <a:t>STEP 7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9006840" y="4279392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2E26"/>
              </a:buClr>
              <a:buSzPts val="1550"/>
              <a:buFont typeface="Arial"/>
              <a:buNone/>
            </a:pPr>
            <a:r>
              <a:rPr lang="en-US" sz="1200" b="1" i="0" u="none" strike="noStrike" cap="non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MVP Validation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8165592" y="4864608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Small-batch trials, market testing, and continuous refinement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457200" y="63550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AQUA TEAM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 txBox="1"/>
          <p:nvPr/>
        </p:nvSpPr>
        <p:spPr>
          <a:xfrm>
            <a:off x="3776472" y="5879600"/>
            <a:ext cx="4221366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u="sng" dirty="0">
                <a:solidFill>
                  <a:schemeClr val="hlink"/>
                </a:solidFill>
                <a:hlinkClick r:id="rId10"/>
              </a:rPr>
              <a:t>DEMO</a:t>
            </a:r>
            <a:r>
              <a:rPr lang="zh-TW" altLang="en-US" u="sng" dirty="0">
                <a:solidFill>
                  <a:schemeClr val="hlink"/>
                </a:solidFill>
                <a:hlinkClick r:id="rId10"/>
              </a:rPr>
              <a:t>：</a:t>
            </a:r>
            <a:r>
              <a:rPr lang="en-US" u="sng" dirty="0">
                <a:solidFill>
                  <a:schemeClr val="hlink"/>
                </a:solidFill>
                <a:hlinkClick r:id="rId10"/>
              </a:rPr>
              <a:t>https://tjimmy0113.github.io/tu-lu-toolkit/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4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05be249d1_2_2"/>
          <p:cNvSpPr/>
          <p:nvPr/>
        </p:nvSpPr>
        <p:spPr>
          <a:xfrm>
            <a:off x="594250" y="657675"/>
            <a:ext cx="10972800" cy="5423100"/>
          </a:xfrm>
          <a:prstGeom prst="roundRect">
            <a:avLst>
              <a:gd name="adj" fmla="val 2105"/>
            </a:avLst>
          </a:prstGeom>
          <a:solidFill>
            <a:srgbClr val="2C5F2D"/>
          </a:solidFill>
          <a:ln>
            <a:noFill/>
          </a:ln>
          <a:effectLst>
            <a:outerShdw blurRad="88900" dist="38100" dir="5400000" algn="bl" rotWithShape="0">
              <a:srgbClr val="000000">
                <a:alpha val="1412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7" name="Google Shape;127;g3f05be249d1_2_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7340" y="148418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g3f05be249d1_2_2"/>
          <p:cNvSpPr/>
          <p:nvPr/>
        </p:nvSpPr>
        <p:spPr>
          <a:xfrm>
            <a:off x="1621450" y="1626575"/>
            <a:ext cx="4474550" cy="28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lang="en-US" sz="28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From “Growing Agricultural Products,”</a:t>
            </a:r>
            <a:endParaRPr sz="2800" b="1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lang="en-US" sz="28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Toward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6A340"/>
              </a:buClr>
              <a:buSzPts val="2900"/>
              <a:buFont typeface="Arial"/>
              <a:buNone/>
            </a:pPr>
            <a:r>
              <a:rPr lang="en-US" sz="2800" b="1" i="0" u="none" strike="noStrike" cap="none" dirty="0">
                <a:solidFill>
                  <a:srgbClr val="D6A340"/>
                </a:solidFill>
                <a:latin typeface="Arial"/>
                <a:ea typeface="Arial"/>
                <a:cs typeface="Arial"/>
                <a:sym typeface="Arial"/>
              </a:rPr>
              <a:t>“Creating Brand Value.”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g3f05be249d1_2_2"/>
          <p:cNvSpPr/>
          <p:nvPr/>
        </p:nvSpPr>
        <p:spPr>
          <a:xfrm>
            <a:off x="1691800" y="4217750"/>
            <a:ext cx="3833400" cy="10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5E3C6"/>
              </a:buClr>
              <a:buSzPts val="135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D5E3C6"/>
                </a:solidFill>
                <a:latin typeface="Arial"/>
                <a:ea typeface="Arial"/>
                <a:cs typeface="Arial"/>
                <a:sym typeface="Arial"/>
              </a:rPr>
              <a:t>By rediscovering crops, exploring processing possibilities, and connecting local resources with market demand, every small farmer can use a systematic process to turn agricultural products into a brand with a story, character, and competitive edge.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g3f05be249d1_2_2"/>
          <p:cNvSpPr/>
          <p:nvPr/>
        </p:nvSpPr>
        <p:spPr>
          <a:xfrm>
            <a:off x="11277295" y="6355080"/>
            <a:ext cx="5487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g3f05be249d1_2_2"/>
          <p:cNvSpPr/>
          <p:nvPr/>
        </p:nvSpPr>
        <p:spPr>
          <a:xfrm>
            <a:off x="457200" y="635508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AQUA TEAM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" name="Google Shape;132;g3f05be249d1_2_2" title="LINE_ALBUM_簡報用_260702_6.jpg"/>
          <p:cNvPicPr preferRelativeResize="0"/>
          <p:nvPr/>
        </p:nvPicPr>
        <p:blipFill rotWithShape="1">
          <a:blip r:embed="rId4">
            <a:alphaModFix/>
          </a:blip>
          <a:srcRect r="7910"/>
          <a:stretch/>
        </p:blipFill>
        <p:spPr>
          <a:xfrm>
            <a:off x="6841763" y="657675"/>
            <a:ext cx="4725287" cy="288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g3f05be249d1_2_2" title="LINE_ALBUM_簡報用_260702_7.jpg"/>
          <p:cNvPicPr preferRelativeResize="0"/>
          <p:nvPr/>
        </p:nvPicPr>
        <p:blipFill rotWithShape="1">
          <a:blip r:embed="rId5">
            <a:alphaModFix/>
          </a:blip>
          <a:srcRect t="26513" b="33169"/>
          <a:stretch/>
        </p:blipFill>
        <p:spPr>
          <a:xfrm>
            <a:off x="6841775" y="3458619"/>
            <a:ext cx="4725274" cy="26251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0713C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"/>
          <p:cNvSpPr/>
          <p:nvPr/>
        </p:nvSpPr>
        <p:spPr>
          <a:xfrm>
            <a:off x="9326880" y="-1645920"/>
            <a:ext cx="5029200" cy="5029200"/>
          </a:xfrm>
          <a:prstGeom prst="ellipse">
            <a:avLst/>
          </a:prstGeom>
          <a:solidFill>
            <a:srgbClr val="9A5F30">
              <a:alpha val="8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9"/>
          <p:cNvSpPr/>
          <p:nvPr/>
        </p:nvSpPr>
        <p:spPr>
          <a:xfrm>
            <a:off x="-1371600" y="4023360"/>
            <a:ext cx="4114800" cy="4114800"/>
          </a:xfrm>
          <a:prstGeom prst="ellipse">
            <a:avLst/>
          </a:prstGeom>
          <a:solidFill>
            <a:srgbClr val="D6A340">
              <a:alpha val="4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1" name="Google Shape;141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1248" y="123444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9"/>
          <p:cNvSpPr/>
          <p:nvPr/>
        </p:nvSpPr>
        <p:spPr>
          <a:xfrm>
            <a:off x="822960" y="192024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E3C7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FFE3C7"/>
                </a:solidFill>
                <a:latin typeface="Arial"/>
                <a:ea typeface="Arial"/>
                <a:cs typeface="Arial"/>
                <a:sym typeface="Arial"/>
              </a:rPr>
              <a:t>PART 02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822960" y="246888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lang="en-US" sz="28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Brand Loyalty &amp; Word of Mouth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9"/>
          <p:cNvSpPr/>
          <p:nvPr/>
        </p:nvSpPr>
        <p:spPr>
          <a:xfrm>
            <a:off x="841248" y="3291840"/>
            <a:ext cx="546811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E9D6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FFE9D6"/>
                </a:solidFill>
                <a:latin typeface="Arial"/>
                <a:ea typeface="Arial"/>
                <a:cs typeface="Arial"/>
                <a:sym typeface="Arial"/>
              </a:rPr>
              <a:t>Trust → Emotion → Repurchase: Turning a Single Purchase into a Long-Term Relationship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457200" y="63550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AQUA TEAM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7" name="Google Shape;147;p9" title="LINE_ALBUM_簡報用_260702_9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62475" y="-1994300"/>
            <a:ext cx="5029200" cy="89373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4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"/>
          <p:cNvSpPr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713C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B0713C"/>
                </a:solidFill>
                <a:latin typeface="Arial"/>
                <a:ea typeface="Arial"/>
                <a:cs typeface="Arial"/>
                <a:sym typeface="Arial"/>
              </a:rPr>
              <a:t>Three Brand Steps · THE MODEL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0"/>
          <p:cNvSpPr/>
          <p:nvPr/>
        </p:nvSpPr>
        <p:spPr>
          <a:xfrm>
            <a:off x="640080" y="991885"/>
            <a:ext cx="7645964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32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C5F2D"/>
                </a:solidFill>
                <a:latin typeface="Arial"/>
                <a:ea typeface="Arial"/>
                <a:cs typeface="Arial"/>
                <a:sym typeface="Arial"/>
              </a:rPr>
              <a:t>Word of mouth is really built up over three stages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0"/>
          <p:cNvSpPr/>
          <p:nvPr/>
        </p:nvSpPr>
        <p:spPr>
          <a:xfrm>
            <a:off x="274317" y="2135125"/>
            <a:ext cx="3200400" cy="29262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0"/>
          <p:cNvSpPr/>
          <p:nvPr/>
        </p:nvSpPr>
        <p:spPr>
          <a:xfrm>
            <a:off x="1280158" y="2546605"/>
            <a:ext cx="1188600" cy="118860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7" name="Google Shape;157;p1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54477" y="2820925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0"/>
          <p:cNvSpPr/>
          <p:nvPr/>
        </p:nvSpPr>
        <p:spPr>
          <a:xfrm>
            <a:off x="274317" y="3918205"/>
            <a:ext cx="3200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2C5F2D"/>
                </a:solidFill>
                <a:latin typeface="Arial"/>
                <a:ea typeface="Arial"/>
                <a:cs typeface="Arial"/>
                <a:sym typeface="Arial"/>
              </a:rPr>
              <a:t>TRUST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0"/>
          <p:cNvSpPr/>
          <p:nvPr/>
        </p:nvSpPr>
        <p:spPr>
          <a:xfrm>
            <a:off x="274317" y="4192525"/>
            <a:ext cx="32004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A2E26"/>
              </a:buClr>
              <a:buSzPts val="2600"/>
              <a:buFont typeface="Arial"/>
              <a:buNone/>
            </a:pPr>
            <a:r>
              <a:rPr lang="en-US" sz="1800" b="1" i="0" u="none" strike="noStrike" cap="none" dirty="0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Trust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0"/>
          <p:cNvSpPr/>
          <p:nvPr/>
        </p:nvSpPr>
        <p:spPr>
          <a:xfrm>
            <a:off x="457197" y="4649725"/>
            <a:ext cx="28347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350"/>
              <a:buFont typeface="Arial"/>
              <a:buNone/>
            </a:pPr>
            <a:r>
              <a:rPr lang="en-US" sz="1350" b="0" i="0" u="none" strike="noStrike" cap="none" dirty="0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Get consumers to dare to buy for the first time</a:t>
            </a:r>
            <a:endParaRPr sz="1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1" name="Google Shape;161;p1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30750" y="3323845"/>
            <a:ext cx="50292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0"/>
          <p:cNvSpPr/>
          <p:nvPr/>
        </p:nvSpPr>
        <p:spPr>
          <a:xfrm>
            <a:off x="4480558" y="2135125"/>
            <a:ext cx="3200400" cy="29262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0"/>
          <p:cNvSpPr/>
          <p:nvPr/>
        </p:nvSpPr>
        <p:spPr>
          <a:xfrm>
            <a:off x="5486397" y="2546605"/>
            <a:ext cx="1188600" cy="1188600"/>
          </a:xfrm>
          <a:prstGeom prst="ellipse">
            <a:avLst/>
          </a:prstGeom>
          <a:solidFill>
            <a:srgbClr val="B0713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4" name="Google Shape;164;p10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60718" y="2820925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0"/>
          <p:cNvSpPr/>
          <p:nvPr/>
        </p:nvSpPr>
        <p:spPr>
          <a:xfrm>
            <a:off x="4480558" y="3918205"/>
            <a:ext cx="3200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713C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B0713C"/>
                </a:solidFill>
                <a:latin typeface="Arial"/>
                <a:ea typeface="Arial"/>
                <a:cs typeface="Arial"/>
                <a:sym typeface="Arial"/>
              </a:rPr>
              <a:t>EMOTION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0"/>
          <p:cNvSpPr/>
          <p:nvPr/>
        </p:nvSpPr>
        <p:spPr>
          <a:xfrm>
            <a:off x="4480558" y="4192525"/>
            <a:ext cx="32004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A2E26"/>
              </a:buClr>
              <a:buSzPts val="2600"/>
              <a:buFont typeface="Arial"/>
              <a:buNone/>
            </a:pPr>
            <a:r>
              <a:rPr lang="en-US" sz="1800" b="1" i="0" u="none" strike="noStrike" cap="non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Emotion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0"/>
          <p:cNvSpPr/>
          <p:nvPr/>
        </p:nvSpPr>
        <p:spPr>
          <a:xfrm>
            <a:off x="4663438" y="4649725"/>
            <a:ext cx="28347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Get consumers to want to stay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8" name="Google Shape;168;p1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36990" y="3323845"/>
            <a:ext cx="50292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0"/>
          <p:cNvSpPr/>
          <p:nvPr/>
        </p:nvSpPr>
        <p:spPr>
          <a:xfrm>
            <a:off x="8686798" y="2135125"/>
            <a:ext cx="3200400" cy="29262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0"/>
          <p:cNvSpPr/>
          <p:nvPr/>
        </p:nvSpPr>
        <p:spPr>
          <a:xfrm>
            <a:off x="9692638" y="2546605"/>
            <a:ext cx="1188600" cy="1188600"/>
          </a:xfrm>
          <a:prstGeom prst="ellipse">
            <a:avLst/>
          </a:prstGeom>
          <a:solidFill>
            <a:srgbClr val="D6A3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1" name="Google Shape;171;p10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966957" y="2820925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0"/>
          <p:cNvSpPr/>
          <p:nvPr/>
        </p:nvSpPr>
        <p:spPr>
          <a:xfrm>
            <a:off x="8686798" y="3918205"/>
            <a:ext cx="3200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6A34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D6A340"/>
                </a:solidFill>
                <a:latin typeface="Arial"/>
                <a:ea typeface="Arial"/>
                <a:cs typeface="Arial"/>
                <a:sym typeface="Arial"/>
              </a:rPr>
              <a:t>REPURCHASE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8686798" y="4192525"/>
            <a:ext cx="32004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A2E26"/>
              </a:buClr>
              <a:buSzPts val="2600"/>
              <a:buFont typeface="Arial"/>
              <a:buNone/>
            </a:pPr>
            <a:r>
              <a:rPr lang="en-US" sz="1800" b="1" i="0" u="none" strike="noStrike" cap="non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Repurchase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0"/>
          <p:cNvSpPr/>
          <p:nvPr/>
        </p:nvSpPr>
        <p:spPr>
          <a:xfrm>
            <a:off x="8869678" y="4649725"/>
            <a:ext cx="28347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Turn a single purchase into a habit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"/>
          <p:cNvSpPr/>
          <p:nvPr/>
        </p:nvSpPr>
        <p:spPr>
          <a:xfrm>
            <a:off x="822960" y="566928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600"/>
              <a:buFont typeface="Arial"/>
              <a:buNone/>
            </a:pPr>
            <a:r>
              <a:rPr lang="en-US" sz="1600" b="1" i="1" u="none" strike="noStrike" cap="none">
                <a:solidFill>
                  <a:srgbClr val="2C5F2D"/>
                </a:solidFill>
                <a:latin typeface="Arial"/>
                <a:ea typeface="Arial"/>
                <a:cs typeface="Arial"/>
                <a:sym typeface="Arial"/>
              </a:rPr>
              <a:t>Trust gets people to buy for the first time; emotion makes them want to stay; repurchase turns the relationship into a long-term habit.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0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/>
          <p:nvPr/>
        </p:nvSpPr>
        <p:spPr>
          <a:xfrm>
            <a:off x="457200" y="63550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AQUA TEAM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8" name="Google Shape;178;p10" title="LINE_ALBUM_簡報用_260702_4.jpg"/>
          <p:cNvPicPr preferRelativeResize="0"/>
          <p:nvPr/>
        </p:nvPicPr>
        <p:blipFill rotWithShape="1">
          <a:blip r:embed="rId7">
            <a:alphaModFix/>
          </a:blip>
          <a:srcRect l="12627" t="-7259" r="-7279" b="11492"/>
          <a:stretch/>
        </p:blipFill>
        <p:spPr>
          <a:xfrm>
            <a:off x="8797427" y="83701"/>
            <a:ext cx="3281542" cy="1868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4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"/>
          <p:cNvSpPr/>
          <p:nvPr/>
        </p:nvSpPr>
        <p:spPr>
          <a:xfrm>
            <a:off x="640080" y="457200"/>
            <a:ext cx="960120" cy="96012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1"/>
          <p:cNvSpPr/>
          <p:nvPr/>
        </p:nvSpPr>
        <p:spPr>
          <a:xfrm>
            <a:off x="640080" y="457200"/>
            <a:ext cx="96012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lang="en-US" sz="3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1"/>
          <p:cNvSpPr/>
          <p:nvPr/>
        </p:nvSpPr>
        <p:spPr>
          <a:xfrm>
            <a:off x="1783080" y="50292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2C5F2D"/>
                </a:solidFill>
                <a:latin typeface="Arial"/>
                <a:ea typeface="Arial"/>
                <a:cs typeface="Arial"/>
                <a:sym typeface="Arial"/>
              </a:rPr>
              <a:t>STEP 1 · TRUST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1"/>
          <p:cNvSpPr/>
          <p:nvPr/>
        </p:nvSpPr>
        <p:spPr>
          <a:xfrm>
            <a:off x="1783080" y="874889"/>
            <a:ext cx="5938343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30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C5F2D"/>
                </a:solidFill>
                <a:latin typeface="Arial"/>
                <a:ea typeface="Arial"/>
                <a:cs typeface="Arial"/>
                <a:sym typeface="Arial"/>
              </a:rPr>
              <a:t>Building Trust: Getting People</a:t>
            </a:r>
            <a:r>
              <a:rPr lang="en-US" sz="2400" b="1" dirty="0">
                <a:solidFill>
                  <a:srgbClr val="2C5F2D"/>
                </a:solidFill>
              </a:rPr>
              <a:t> to Buy</a:t>
            </a:r>
            <a:r>
              <a:rPr lang="en-US" sz="2400" b="1" i="0" u="none" strike="noStrike" cap="none" dirty="0">
                <a:solidFill>
                  <a:srgbClr val="2C5F2D"/>
                </a:solidFill>
                <a:latin typeface="Arial"/>
                <a:ea typeface="Arial"/>
                <a:cs typeface="Arial"/>
                <a:sym typeface="Arial"/>
              </a:rPr>
              <a:t> for the</a:t>
            </a:r>
            <a:r>
              <a:rPr lang="en-US" sz="2400" b="1" dirty="0">
                <a:solidFill>
                  <a:srgbClr val="2C5F2D"/>
                </a:solidFill>
              </a:rPr>
              <a:t> First</a:t>
            </a:r>
            <a:r>
              <a:rPr lang="en-US" sz="2400" b="1" i="0" u="none" strike="noStrike" cap="none" dirty="0">
                <a:solidFill>
                  <a:srgbClr val="2C5F2D"/>
                </a:solidFill>
                <a:latin typeface="Arial"/>
                <a:ea typeface="Arial"/>
                <a:cs typeface="Arial"/>
                <a:sym typeface="Arial"/>
              </a:rPr>
              <a:t> Time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1"/>
          <p:cNvSpPr/>
          <p:nvPr/>
        </p:nvSpPr>
        <p:spPr>
          <a:xfrm>
            <a:off x="1760163" y="1623060"/>
            <a:ext cx="556880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500"/>
              <a:buFont typeface="Arial"/>
              <a:buNone/>
            </a:pPr>
            <a:r>
              <a:rPr lang="en-US" sz="1500" b="0" i="1" u="none" strike="noStrike" cap="none" dirty="0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The biggest problem with agricultural products is uncertainty — is it natural, is it safe, why is it more expensive.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1"/>
          <p:cNvSpPr/>
          <p:nvPr/>
        </p:nvSpPr>
        <p:spPr>
          <a:xfrm>
            <a:off x="640080" y="228600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11"/>
          <p:cNvSpPr/>
          <p:nvPr/>
        </p:nvSpPr>
        <p:spPr>
          <a:xfrm>
            <a:off x="1005840" y="2651760"/>
            <a:ext cx="822960" cy="822960"/>
          </a:xfrm>
          <a:prstGeom prst="ellipse">
            <a:avLst/>
          </a:prstGeom>
          <a:solidFill>
            <a:srgbClr val="F3F5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1" name="Google Shape;191;p1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07008" y="2852928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1"/>
          <p:cNvSpPr/>
          <p:nvPr/>
        </p:nvSpPr>
        <p:spPr>
          <a:xfrm>
            <a:off x="1005840" y="3611880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2E26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Reducing Information Asymmetry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1"/>
          <p:cNvSpPr/>
          <p:nvPr/>
        </p:nvSpPr>
        <p:spPr>
          <a:xfrm>
            <a:off x="1005840" y="4114800"/>
            <a:ext cx="288036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Farm/factory visits, QR-code origin tracing, and production videos let consumers see how the product is actually made.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1"/>
          <p:cNvSpPr/>
          <p:nvPr/>
        </p:nvSpPr>
        <p:spPr>
          <a:xfrm>
            <a:off x="4544568" y="228600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1"/>
          <p:cNvSpPr/>
          <p:nvPr/>
        </p:nvSpPr>
        <p:spPr>
          <a:xfrm>
            <a:off x="4910328" y="2651760"/>
            <a:ext cx="822960" cy="822960"/>
          </a:xfrm>
          <a:prstGeom prst="ellipse">
            <a:avLst/>
          </a:prstGeom>
          <a:solidFill>
            <a:srgbClr val="F3F5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6" name="Google Shape;196;p1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11496" y="2852928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1"/>
          <p:cNvSpPr/>
          <p:nvPr/>
        </p:nvSpPr>
        <p:spPr>
          <a:xfrm>
            <a:off x="4910328" y="3611880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2E26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Knowledge Education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1"/>
          <p:cNvSpPr/>
          <p:nvPr/>
        </p:nvSpPr>
        <p:spPr>
          <a:xfrm>
            <a:off x="4910328" y="4114800"/>
            <a:ext cx="288036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Regularly sharing the value of health and natural farming methods helps consumers understand the meaning beneath the surface.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8449056" y="228600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1"/>
          <p:cNvSpPr/>
          <p:nvPr/>
        </p:nvSpPr>
        <p:spPr>
          <a:xfrm>
            <a:off x="8814816" y="2651760"/>
            <a:ext cx="822960" cy="822960"/>
          </a:xfrm>
          <a:prstGeom prst="ellipse">
            <a:avLst/>
          </a:prstGeom>
          <a:solidFill>
            <a:srgbClr val="F3F5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1" name="Google Shape;201;p1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015984" y="2852928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1"/>
          <p:cNvSpPr/>
          <p:nvPr/>
        </p:nvSpPr>
        <p:spPr>
          <a:xfrm>
            <a:off x="8814816" y="3611880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2E26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Authentic Stories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1"/>
          <p:cNvSpPr/>
          <p:nvPr/>
        </p:nvSpPr>
        <p:spPr>
          <a:xfrm>
            <a:off x="8814816" y="4114800"/>
            <a:ext cx="288036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People trust “real people” more than corporate packaging — a farmer’s daily life, founding story, land, and culture.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1"/>
          <p:cNvSpPr/>
          <p:nvPr/>
        </p:nvSpPr>
        <p:spPr>
          <a:xfrm>
            <a:off x="640080" y="5669280"/>
            <a:ext cx="10908792" cy="566928"/>
          </a:xfrm>
          <a:prstGeom prst="roundRect">
            <a:avLst>
              <a:gd name="adj" fmla="val 12903"/>
            </a:avLst>
          </a:prstGeom>
          <a:solidFill>
            <a:srgbClr val="2C5F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1"/>
          <p:cNvSpPr/>
          <p:nvPr/>
        </p:nvSpPr>
        <p:spPr>
          <a:xfrm>
            <a:off x="822960" y="5669280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lang="en-US" sz="14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consumers trust isn’t the product itself, but the people and the entire production process.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1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1"/>
          <p:cNvSpPr/>
          <p:nvPr/>
        </p:nvSpPr>
        <p:spPr>
          <a:xfrm>
            <a:off x="457200" y="63550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AQUA TEAM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8" name="Google Shape;208;p11" title="LINE_ALBUM_簡報用_260702_3.jpg"/>
          <p:cNvPicPr preferRelativeResize="0"/>
          <p:nvPr/>
        </p:nvPicPr>
        <p:blipFill rotWithShape="1">
          <a:blip r:embed="rId6">
            <a:alphaModFix/>
          </a:blip>
          <a:srcRect l="-11757"/>
          <a:stretch/>
        </p:blipFill>
        <p:spPr>
          <a:xfrm>
            <a:off x="8314543" y="211092"/>
            <a:ext cx="3331301" cy="18737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4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2"/>
          <p:cNvSpPr/>
          <p:nvPr/>
        </p:nvSpPr>
        <p:spPr>
          <a:xfrm>
            <a:off x="640080" y="457200"/>
            <a:ext cx="960120" cy="960120"/>
          </a:xfrm>
          <a:prstGeom prst="ellipse">
            <a:avLst/>
          </a:prstGeom>
          <a:solidFill>
            <a:srgbClr val="B0713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2"/>
          <p:cNvSpPr/>
          <p:nvPr/>
        </p:nvSpPr>
        <p:spPr>
          <a:xfrm>
            <a:off x="640080" y="457200"/>
            <a:ext cx="96012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lang="en-US" sz="3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2"/>
          <p:cNvSpPr/>
          <p:nvPr/>
        </p:nvSpPr>
        <p:spPr>
          <a:xfrm>
            <a:off x="1783080" y="50292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713C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B0713C"/>
                </a:solidFill>
                <a:latin typeface="Arial"/>
                <a:ea typeface="Arial"/>
                <a:cs typeface="Arial"/>
                <a:sym typeface="Arial"/>
              </a:rPr>
              <a:t>STEP 2 · EMOTION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2"/>
          <p:cNvSpPr/>
          <p:nvPr/>
        </p:nvSpPr>
        <p:spPr>
          <a:xfrm>
            <a:off x="1783080" y="867269"/>
            <a:ext cx="7428653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30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C5F2D"/>
                </a:solidFill>
                <a:latin typeface="Arial"/>
                <a:ea typeface="Arial"/>
                <a:cs typeface="Arial"/>
                <a:sym typeface="Arial"/>
              </a:rPr>
              <a:t>Building Emotion:</a:t>
            </a:r>
            <a:r>
              <a:rPr lang="en-US" sz="2400" b="1" dirty="0">
                <a:solidFill>
                  <a:srgbClr val="2C5F2D"/>
                </a:solidFill>
              </a:rPr>
              <a:t> </a:t>
            </a:r>
            <a:r>
              <a:rPr lang="en-US" sz="2400" b="1" i="0" u="none" strike="noStrike" cap="none" dirty="0">
                <a:solidFill>
                  <a:srgbClr val="2C5F2D"/>
                </a:solidFill>
                <a:latin typeface="Arial"/>
                <a:ea typeface="Arial"/>
                <a:cs typeface="Arial"/>
                <a:sym typeface="Arial"/>
              </a:rPr>
              <a:t>Getting People to Want to Stay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2"/>
          <p:cNvSpPr/>
          <p:nvPr/>
        </p:nvSpPr>
        <p:spPr>
          <a:xfrm>
            <a:off x="1828800" y="1645920"/>
            <a:ext cx="475600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500"/>
              <a:buFont typeface="Arial"/>
              <a:buNone/>
            </a:pPr>
            <a:r>
              <a:rPr lang="en-US" sz="1500" b="0" i="1" u="none" strike="noStrike" cap="none" dirty="0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Once trust is established, the next step isn’t selling — it’s inviting consumers into the brand’s world.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2"/>
          <p:cNvSpPr/>
          <p:nvPr/>
        </p:nvSpPr>
        <p:spPr>
          <a:xfrm>
            <a:off x="640080" y="228600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2"/>
          <p:cNvSpPr/>
          <p:nvPr/>
        </p:nvSpPr>
        <p:spPr>
          <a:xfrm>
            <a:off x="1005840" y="2651760"/>
            <a:ext cx="822960" cy="822960"/>
          </a:xfrm>
          <a:prstGeom prst="ellipse">
            <a:avLst/>
          </a:prstGeom>
          <a:solidFill>
            <a:srgbClr val="F3F5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1" name="Google Shape;221;p1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07008" y="2852928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2"/>
          <p:cNvSpPr/>
          <p:nvPr/>
        </p:nvSpPr>
        <p:spPr>
          <a:xfrm>
            <a:off x="1005840" y="3611880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2E26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Immersive Experiences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2"/>
          <p:cNvSpPr/>
          <p:nvPr/>
        </p:nvSpPr>
        <p:spPr>
          <a:xfrm>
            <a:off x="1005840" y="4114800"/>
            <a:ext cx="288036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Harvesting, DIY processing, and farm activities let customers form memories through hands-on participation.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2"/>
          <p:cNvSpPr/>
          <p:nvPr/>
        </p:nvSpPr>
        <p:spPr>
          <a:xfrm>
            <a:off x="4544568" y="228600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2"/>
          <p:cNvSpPr/>
          <p:nvPr/>
        </p:nvSpPr>
        <p:spPr>
          <a:xfrm>
            <a:off x="4910328" y="2651760"/>
            <a:ext cx="822960" cy="822960"/>
          </a:xfrm>
          <a:prstGeom prst="ellipse">
            <a:avLst/>
          </a:prstGeom>
          <a:solidFill>
            <a:srgbClr val="F3F5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6" name="Google Shape;226;p1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11496" y="2852928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2"/>
          <p:cNvSpPr/>
          <p:nvPr/>
        </p:nvSpPr>
        <p:spPr>
          <a:xfrm>
            <a:off x="4910328" y="3611880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2E26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Human Connection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2"/>
          <p:cNvSpPr/>
          <p:nvPr/>
        </p:nvSpPr>
        <p:spPr>
          <a:xfrm>
            <a:off x="4910328" y="4114800"/>
            <a:ext cx="288036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Farmers personally lead tours, building genuinely warm, personal interactions.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2"/>
          <p:cNvSpPr/>
          <p:nvPr/>
        </p:nvSpPr>
        <p:spPr>
          <a:xfrm>
            <a:off x="8449056" y="228600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2"/>
          <p:cNvSpPr/>
          <p:nvPr/>
        </p:nvSpPr>
        <p:spPr>
          <a:xfrm>
            <a:off x="8814816" y="2651760"/>
            <a:ext cx="822960" cy="822960"/>
          </a:xfrm>
          <a:prstGeom prst="ellipse">
            <a:avLst/>
          </a:prstGeom>
          <a:solidFill>
            <a:srgbClr val="F3F5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1" name="Google Shape;231;p1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015984" y="2852928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2"/>
          <p:cNvSpPr/>
          <p:nvPr/>
        </p:nvSpPr>
        <p:spPr>
          <a:xfrm>
            <a:off x="8814816" y="3611880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2E26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Everyday Integration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2"/>
          <p:cNvSpPr/>
          <p:nvPr/>
        </p:nvSpPr>
        <p:spPr>
          <a:xfrm>
            <a:off x="8814816" y="4114800"/>
            <a:ext cx="288036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Running social media accounts, sharing recipes, and authentic KOL shares bring the brand into everyday life.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2"/>
          <p:cNvSpPr/>
          <p:nvPr/>
        </p:nvSpPr>
        <p:spPr>
          <a:xfrm>
            <a:off x="640080" y="5669280"/>
            <a:ext cx="10908792" cy="566928"/>
          </a:xfrm>
          <a:prstGeom prst="roundRect">
            <a:avLst>
              <a:gd name="adj" fmla="val 12903"/>
            </a:avLst>
          </a:prstGeom>
          <a:solidFill>
            <a:srgbClr val="B0713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2"/>
          <p:cNvSpPr/>
          <p:nvPr/>
        </p:nvSpPr>
        <p:spPr>
          <a:xfrm>
            <a:off x="822960" y="5669280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lang="en-US" sz="14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Emotional connection turns the brand from a one-time transaction into an ongoing relationship.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2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2"/>
          <p:cNvSpPr/>
          <p:nvPr/>
        </p:nvSpPr>
        <p:spPr>
          <a:xfrm>
            <a:off x="457200" y="63550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AQUA TEAM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8" name="Google Shape;238;p12" title="LINE_ALBUM_簡報用_260702_2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226296" y="502920"/>
            <a:ext cx="2468880" cy="1550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4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3"/>
          <p:cNvSpPr/>
          <p:nvPr/>
        </p:nvSpPr>
        <p:spPr>
          <a:xfrm>
            <a:off x="640080" y="457200"/>
            <a:ext cx="960120" cy="960120"/>
          </a:xfrm>
          <a:prstGeom prst="ellipse">
            <a:avLst/>
          </a:prstGeom>
          <a:solidFill>
            <a:srgbClr val="D6A3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3"/>
          <p:cNvSpPr/>
          <p:nvPr/>
        </p:nvSpPr>
        <p:spPr>
          <a:xfrm>
            <a:off x="640080" y="457200"/>
            <a:ext cx="96012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lang="en-US" sz="3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3"/>
          <p:cNvSpPr/>
          <p:nvPr/>
        </p:nvSpPr>
        <p:spPr>
          <a:xfrm>
            <a:off x="1783080" y="50292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6A340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D6A340"/>
                </a:solidFill>
                <a:latin typeface="Arial"/>
                <a:ea typeface="Arial"/>
                <a:cs typeface="Arial"/>
                <a:sym typeface="Arial"/>
              </a:rPr>
              <a:t>STEP 3 · REPURCHASE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3"/>
          <p:cNvSpPr/>
          <p:nvPr/>
        </p:nvSpPr>
        <p:spPr>
          <a:xfrm>
            <a:off x="1783080" y="838199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30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C5F2D"/>
                </a:solidFill>
                <a:latin typeface="Arial"/>
                <a:ea typeface="Arial"/>
                <a:cs typeface="Arial"/>
                <a:sym typeface="Arial"/>
              </a:rPr>
              <a:t>Building Repurchase: Letting Habits Form Naturally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3"/>
          <p:cNvSpPr/>
          <p:nvPr/>
        </p:nvSpPr>
        <p:spPr>
          <a:xfrm>
            <a:off x="1783080" y="1386839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500"/>
              <a:buFont typeface="Arial"/>
              <a:buNone/>
            </a:pPr>
            <a:r>
              <a:rPr lang="en-US" sz="1500" b="0" i="1" u="none" strike="noStrike" cap="none" dirty="0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The key question: how to turn a single purchase into a long-term consumption habit.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3"/>
          <p:cNvSpPr/>
          <p:nvPr/>
        </p:nvSpPr>
        <p:spPr>
          <a:xfrm>
            <a:off x="640080" y="228600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3"/>
          <p:cNvSpPr/>
          <p:nvPr/>
        </p:nvSpPr>
        <p:spPr>
          <a:xfrm>
            <a:off x="1005840" y="2651760"/>
            <a:ext cx="822960" cy="822960"/>
          </a:xfrm>
          <a:prstGeom prst="ellipse">
            <a:avLst/>
          </a:prstGeom>
          <a:solidFill>
            <a:srgbClr val="F3F5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1" name="Google Shape;251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07008" y="2852928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3"/>
          <p:cNvSpPr/>
          <p:nvPr/>
        </p:nvSpPr>
        <p:spPr>
          <a:xfrm>
            <a:off x="1005840" y="3611880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2E26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Repurchase Mechanisms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3"/>
          <p:cNvSpPr/>
          <p:nvPr/>
        </p:nvSpPr>
        <p:spPr>
          <a:xfrm>
            <a:off x="1005840" y="4114800"/>
            <a:ext cx="288036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Membership systems, points, and discounts make repurchasing easier and more appealing.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3"/>
          <p:cNvSpPr/>
          <p:nvPr/>
        </p:nvSpPr>
        <p:spPr>
          <a:xfrm>
            <a:off x="4544568" y="228600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3"/>
          <p:cNvSpPr/>
          <p:nvPr/>
        </p:nvSpPr>
        <p:spPr>
          <a:xfrm>
            <a:off x="4910328" y="2651760"/>
            <a:ext cx="822960" cy="822960"/>
          </a:xfrm>
          <a:prstGeom prst="ellipse">
            <a:avLst/>
          </a:prstGeom>
          <a:solidFill>
            <a:srgbClr val="F3F5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6" name="Google Shape;256;p1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11496" y="2852928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13"/>
          <p:cNvSpPr/>
          <p:nvPr/>
        </p:nvSpPr>
        <p:spPr>
          <a:xfrm>
            <a:off x="4910328" y="3611880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2E26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Subscription Model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3"/>
          <p:cNvSpPr/>
          <p:nvPr/>
        </p:nvSpPr>
        <p:spPr>
          <a:xfrm>
            <a:off x="4910328" y="4114800"/>
            <a:ext cx="288036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Regular produce boxes and seasonal deliveries mean customers don’t have to think each time — they just receive them automatically.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3"/>
          <p:cNvSpPr/>
          <p:nvPr/>
        </p:nvSpPr>
        <p:spPr>
          <a:xfrm>
            <a:off x="8449056" y="228600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3"/>
          <p:cNvSpPr/>
          <p:nvPr/>
        </p:nvSpPr>
        <p:spPr>
          <a:xfrm>
            <a:off x="8814816" y="2651760"/>
            <a:ext cx="822960" cy="822960"/>
          </a:xfrm>
          <a:prstGeom prst="ellipse">
            <a:avLst/>
          </a:prstGeom>
          <a:solidFill>
            <a:srgbClr val="F3F5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1" name="Google Shape;261;p1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015984" y="2852928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3"/>
          <p:cNvSpPr/>
          <p:nvPr/>
        </p:nvSpPr>
        <p:spPr>
          <a:xfrm>
            <a:off x="8814816" y="3611880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2E26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Community Spread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3"/>
          <p:cNvSpPr/>
          <p:nvPr/>
        </p:nvSpPr>
        <p:spPr>
          <a:xfrm>
            <a:off x="8814816" y="4114800"/>
            <a:ext cx="288036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Referral rewards and bring-a-friend events turn loyal customers into brand promoters.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3"/>
          <p:cNvSpPr/>
          <p:nvPr/>
        </p:nvSpPr>
        <p:spPr>
          <a:xfrm>
            <a:off x="640080" y="5669280"/>
            <a:ext cx="10908792" cy="566928"/>
          </a:xfrm>
          <a:prstGeom prst="roundRect">
            <a:avLst>
              <a:gd name="adj" fmla="val 12903"/>
            </a:avLst>
          </a:prstGeom>
          <a:solidFill>
            <a:srgbClr val="D6A3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3"/>
          <p:cNvSpPr/>
          <p:nvPr/>
        </p:nvSpPr>
        <p:spPr>
          <a:xfrm>
            <a:off x="822960" y="5669280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lang="en-US" sz="14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Repurchase comes from convenience, habit, and the brand’s ongoing presence.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3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3"/>
          <p:cNvSpPr/>
          <p:nvPr/>
        </p:nvSpPr>
        <p:spPr>
          <a:xfrm>
            <a:off x="457200" y="63550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AQUA TEAM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8" name="Google Shape;268;p13" title="LINE_ALBUM_簡報用_260702_11.jpg"/>
          <p:cNvPicPr preferRelativeResize="0"/>
          <p:nvPr/>
        </p:nvPicPr>
        <p:blipFill rotWithShape="1">
          <a:blip r:embed="rId6">
            <a:alphaModFix/>
          </a:blip>
          <a:srcRect l="16906" t="17496" r="13664" b="22194"/>
          <a:stretch/>
        </p:blipFill>
        <p:spPr>
          <a:xfrm>
            <a:off x="9637776" y="533400"/>
            <a:ext cx="2034755" cy="13258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D1C"/>
        </a:solidFill>
        <a:effectLst/>
      </p:bgPr>
    </p:bg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4"/>
          <p:cNvSpPr/>
          <p:nvPr/>
        </p:nvSpPr>
        <p:spPr>
          <a:xfrm>
            <a:off x="9326880" y="-1645920"/>
            <a:ext cx="5029200" cy="502920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14"/>
          <p:cNvSpPr/>
          <p:nvPr/>
        </p:nvSpPr>
        <p:spPr>
          <a:xfrm>
            <a:off x="-1371600" y="4023360"/>
            <a:ext cx="4114800" cy="4114800"/>
          </a:xfrm>
          <a:prstGeom prst="ellipse">
            <a:avLst/>
          </a:prstGeom>
          <a:solidFill>
            <a:srgbClr val="D6A340">
              <a:alpha val="4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76" name="Google Shape;276;p1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1248" y="1234440"/>
            <a:ext cx="5669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14"/>
          <p:cNvSpPr/>
          <p:nvPr/>
        </p:nvSpPr>
        <p:spPr>
          <a:xfrm>
            <a:off x="822960" y="192024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6A34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D6A340"/>
                </a:solidFill>
                <a:latin typeface="Arial"/>
                <a:ea typeface="Arial"/>
                <a:cs typeface="Arial"/>
                <a:sym typeface="Arial"/>
              </a:rPr>
              <a:t>PART 03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4"/>
          <p:cNvSpPr/>
          <p:nvPr/>
        </p:nvSpPr>
        <p:spPr>
          <a:xfrm>
            <a:off x="822960" y="246888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Revenue Model</a:t>
            </a:r>
            <a:endParaRPr sz="4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4"/>
          <p:cNvSpPr/>
          <p:nvPr/>
        </p:nvSpPr>
        <p:spPr>
          <a:xfrm>
            <a:off x="841248" y="352044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7BC62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97BC62"/>
                </a:solidFill>
                <a:latin typeface="Arial"/>
                <a:ea typeface="Arial"/>
                <a:cs typeface="Arial"/>
                <a:sym typeface="Arial"/>
              </a:rPr>
              <a:t>The most important step: turning passion into predictable, sustainable cash flow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4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4"/>
          <p:cNvSpPr/>
          <p:nvPr/>
        </p:nvSpPr>
        <p:spPr>
          <a:xfrm>
            <a:off x="457200" y="63550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AQUA TEAM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4"/>
        </a:solidFill>
        <a:effectLst/>
      </p:bgPr>
    </p:bg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5"/>
          <p:cNvSpPr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713C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B0713C"/>
                </a:solidFill>
                <a:latin typeface="Arial"/>
                <a:ea typeface="Arial"/>
                <a:cs typeface="Arial"/>
                <a:sym typeface="Arial"/>
              </a:rPr>
              <a:t>REVENUE STREAMS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5"/>
          <p:cNvSpPr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2C5F2D"/>
                </a:solidFill>
                <a:latin typeface="Arial"/>
                <a:ea typeface="Arial"/>
                <a:cs typeface="Arial"/>
                <a:sym typeface="Arial"/>
              </a:rPr>
              <a:t>Seven Major Revenue Streams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5"/>
          <p:cNvSpPr/>
          <p:nvPr/>
        </p:nvSpPr>
        <p:spPr>
          <a:xfrm>
            <a:off x="640080" y="1600200"/>
            <a:ext cx="26517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15"/>
          <p:cNvSpPr/>
          <p:nvPr/>
        </p:nvSpPr>
        <p:spPr>
          <a:xfrm>
            <a:off x="896112" y="1874520"/>
            <a:ext cx="640080" cy="64008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1" name="Google Shape;291;p1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2416" y="202082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15"/>
          <p:cNvSpPr/>
          <p:nvPr/>
        </p:nvSpPr>
        <p:spPr>
          <a:xfrm>
            <a:off x="1645920" y="1892808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2E26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Processed Product Sales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5"/>
          <p:cNvSpPr/>
          <p:nvPr/>
        </p:nvSpPr>
        <p:spPr>
          <a:xfrm>
            <a:off x="914400" y="2560320"/>
            <a:ext cx="21488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150"/>
              <a:buFont typeface="Arial"/>
              <a:buNone/>
            </a:pPr>
            <a:r>
              <a:rPr lang="en-US" sz="1050" b="0" i="0" u="none" strike="noStrike" cap="non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Dried fruit, jam, tea bags, rice products, gift boxes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5"/>
          <p:cNvSpPr/>
          <p:nvPr/>
        </p:nvSpPr>
        <p:spPr>
          <a:xfrm>
            <a:off x="914400" y="301752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150"/>
              <a:buFont typeface="Arial"/>
              <a:buNone/>
            </a:pPr>
            <a:r>
              <a:rPr lang="en-US" sz="1150" b="1" i="0" u="none" strike="noStrike" cap="none">
                <a:solidFill>
                  <a:srgbClr val="2C5F2D"/>
                </a:solidFill>
                <a:latin typeface="Arial"/>
                <a:ea typeface="Arial"/>
                <a:cs typeface="Arial"/>
                <a:sym typeface="Arial"/>
              </a:rPr>
              <a:t>Primary cash flow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5"/>
          <p:cNvSpPr/>
          <p:nvPr/>
        </p:nvSpPr>
        <p:spPr>
          <a:xfrm>
            <a:off x="3547872" y="1600200"/>
            <a:ext cx="26517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5"/>
          <p:cNvSpPr/>
          <p:nvPr/>
        </p:nvSpPr>
        <p:spPr>
          <a:xfrm>
            <a:off x="3803904" y="1874520"/>
            <a:ext cx="640080" cy="640080"/>
          </a:xfrm>
          <a:prstGeom prst="ellipse">
            <a:avLst/>
          </a:prstGeom>
          <a:solidFill>
            <a:srgbClr val="B0713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7" name="Google Shape;297;p1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50208" y="202082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15"/>
          <p:cNvSpPr/>
          <p:nvPr/>
        </p:nvSpPr>
        <p:spPr>
          <a:xfrm>
            <a:off x="4553712" y="1892808"/>
            <a:ext cx="15087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2E26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Membership System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5"/>
          <p:cNvSpPr/>
          <p:nvPr/>
        </p:nvSpPr>
        <p:spPr>
          <a:xfrm>
            <a:off x="3822192" y="2560320"/>
            <a:ext cx="21488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150"/>
              <a:buFont typeface="Arial"/>
              <a:buNone/>
            </a:pPr>
            <a:r>
              <a:rPr lang="en-US" sz="1050" b="0" i="0" u="none" strike="noStrike" cap="non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Regular / Frequent / VIP tiers, based on spending or annual fee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5"/>
          <p:cNvSpPr/>
          <p:nvPr/>
        </p:nvSpPr>
        <p:spPr>
          <a:xfrm>
            <a:off x="3822192" y="301752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713C"/>
              </a:buClr>
              <a:buSzPts val="1150"/>
              <a:buFont typeface="Arial"/>
              <a:buNone/>
            </a:pPr>
            <a:r>
              <a:rPr lang="en-US" sz="1150" b="1" i="0" u="none" strike="noStrike" cap="none">
                <a:solidFill>
                  <a:srgbClr val="B0713C"/>
                </a:solidFill>
                <a:latin typeface="Arial"/>
                <a:ea typeface="Arial"/>
                <a:cs typeface="Arial"/>
                <a:sym typeface="Arial"/>
              </a:rPr>
              <a:t>Increases repurchase rate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5"/>
          <p:cNvSpPr/>
          <p:nvPr/>
        </p:nvSpPr>
        <p:spPr>
          <a:xfrm>
            <a:off x="6455664" y="1554480"/>
            <a:ext cx="26517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15"/>
          <p:cNvSpPr/>
          <p:nvPr/>
        </p:nvSpPr>
        <p:spPr>
          <a:xfrm>
            <a:off x="6711696" y="1874520"/>
            <a:ext cx="640080" cy="640080"/>
          </a:xfrm>
          <a:prstGeom prst="ellipse">
            <a:avLst/>
          </a:prstGeom>
          <a:solidFill>
            <a:srgbClr val="D6A3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3" name="Google Shape;303;p1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58000" y="202082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15"/>
          <p:cNvSpPr/>
          <p:nvPr/>
        </p:nvSpPr>
        <p:spPr>
          <a:xfrm>
            <a:off x="7461504" y="1892808"/>
            <a:ext cx="15087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2E26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Experience Events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5"/>
          <p:cNvSpPr/>
          <p:nvPr/>
        </p:nvSpPr>
        <p:spPr>
          <a:xfrm>
            <a:off x="6729984" y="2560320"/>
            <a:ext cx="21488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150"/>
              <a:buFont typeface="Arial"/>
              <a:buNone/>
            </a:pPr>
            <a:r>
              <a:rPr lang="en-US" sz="1050" b="0" i="0" u="none" strike="noStrike" cap="none" dirty="0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Tastings, hands-on workshops, farm tours, family fruit-picking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5"/>
          <p:cNvSpPr/>
          <p:nvPr/>
        </p:nvSpPr>
        <p:spPr>
          <a:xfrm>
            <a:off x="6729984" y="301752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6A340"/>
              </a:buClr>
              <a:buSzPts val="1150"/>
              <a:buFont typeface="Arial"/>
              <a:buNone/>
            </a:pPr>
            <a:r>
              <a:rPr lang="en-US" sz="1150" b="1" i="0" u="none" strike="noStrike" cap="none">
                <a:solidFill>
                  <a:srgbClr val="D6A340"/>
                </a:solidFill>
                <a:latin typeface="Arial"/>
                <a:ea typeface="Arial"/>
                <a:cs typeface="Arial"/>
                <a:sym typeface="Arial"/>
              </a:rPr>
              <a:t>Creates return-visit value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5"/>
          <p:cNvSpPr/>
          <p:nvPr/>
        </p:nvSpPr>
        <p:spPr>
          <a:xfrm>
            <a:off x="9363456" y="1600200"/>
            <a:ext cx="26517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15"/>
          <p:cNvSpPr/>
          <p:nvPr/>
        </p:nvSpPr>
        <p:spPr>
          <a:xfrm>
            <a:off x="9619488" y="1874520"/>
            <a:ext cx="640080" cy="640080"/>
          </a:xfrm>
          <a:prstGeom prst="ellipse">
            <a:avLst/>
          </a:prstGeom>
          <a:solidFill>
            <a:srgbClr val="6E9E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9" name="Google Shape;309;p15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65792" y="202082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15"/>
          <p:cNvSpPr/>
          <p:nvPr/>
        </p:nvSpPr>
        <p:spPr>
          <a:xfrm>
            <a:off x="10369296" y="1892808"/>
            <a:ext cx="15087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2E26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School Partnerships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5"/>
          <p:cNvSpPr/>
          <p:nvPr/>
        </p:nvSpPr>
        <p:spPr>
          <a:xfrm>
            <a:off x="9637776" y="2560320"/>
            <a:ext cx="21488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150"/>
              <a:buFont typeface="Arial"/>
              <a:buNone/>
            </a:pPr>
            <a:r>
              <a:rPr lang="en-US" sz="1050" b="0" i="0" u="none" strike="noStrike" cap="non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Field trips, food &amp; farming education, course packages, teaching aids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5"/>
          <p:cNvSpPr/>
          <p:nvPr/>
        </p:nvSpPr>
        <p:spPr>
          <a:xfrm>
            <a:off x="9637776" y="301752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9E4F"/>
              </a:buClr>
              <a:buSzPts val="1150"/>
              <a:buFont typeface="Arial"/>
              <a:buNone/>
            </a:pPr>
            <a:r>
              <a:rPr lang="en-US" sz="1150" b="1" i="0" u="none" strike="noStrike" cap="none">
                <a:solidFill>
                  <a:srgbClr val="6E9E4F"/>
                </a:solidFill>
                <a:latin typeface="Arial"/>
                <a:ea typeface="Arial"/>
                <a:cs typeface="Arial"/>
                <a:sym typeface="Arial"/>
              </a:rPr>
              <a:t>Stable partnership income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5"/>
          <p:cNvSpPr/>
          <p:nvPr/>
        </p:nvSpPr>
        <p:spPr>
          <a:xfrm>
            <a:off x="2093976" y="3730752"/>
            <a:ext cx="26517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15"/>
          <p:cNvSpPr/>
          <p:nvPr/>
        </p:nvSpPr>
        <p:spPr>
          <a:xfrm>
            <a:off x="2350008" y="4005072"/>
            <a:ext cx="640080" cy="64008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15" name="Google Shape;315;p15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496312" y="415137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15"/>
          <p:cNvSpPr/>
          <p:nvPr/>
        </p:nvSpPr>
        <p:spPr>
          <a:xfrm>
            <a:off x="3099816" y="402336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2E26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Crop Subscriptions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5"/>
          <p:cNvSpPr/>
          <p:nvPr/>
        </p:nvSpPr>
        <p:spPr>
          <a:xfrm>
            <a:off x="2368296" y="4690872"/>
            <a:ext cx="21488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150"/>
              <a:buFont typeface="Arial"/>
              <a:buNone/>
            </a:pPr>
            <a:r>
              <a:rPr lang="en-US" sz="1050" b="0" i="0" u="none" strike="noStrike" cap="non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Pre-order next season’s crops or processed goods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5"/>
          <p:cNvSpPr/>
          <p:nvPr/>
        </p:nvSpPr>
        <p:spPr>
          <a:xfrm>
            <a:off x="2368296" y="5148072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150"/>
              <a:buFont typeface="Arial"/>
              <a:buNone/>
            </a:pPr>
            <a:r>
              <a:rPr lang="en-US" sz="1150" b="1" i="0" u="none" strike="noStrike" cap="none">
                <a:solidFill>
                  <a:srgbClr val="2C5F2D"/>
                </a:solidFill>
                <a:latin typeface="Arial"/>
                <a:ea typeface="Arial"/>
                <a:cs typeface="Arial"/>
                <a:sym typeface="Arial"/>
              </a:rPr>
              <a:t>Secures funding in advance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5"/>
          <p:cNvSpPr/>
          <p:nvPr/>
        </p:nvSpPr>
        <p:spPr>
          <a:xfrm>
            <a:off x="5001768" y="3730752"/>
            <a:ext cx="26517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15"/>
          <p:cNvSpPr/>
          <p:nvPr/>
        </p:nvSpPr>
        <p:spPr>
          <a:xfrm>
            <a:off x="5257800" y="4005072"/>
            <a:ext cx="640080" cy="640080"/>
          </a:xfrm>
          <a:prstGeom prst="ellipse">
            <a:avLst/>
          </a:prstGeom>
          <a:solidFill>
            <a:srgbClr val="B0713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21" name="Google Shape;321;p15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404104" y="415137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15"/>
          <p:cNvSpPr/>
          <p:nvPr/>
        </p:nvSpPr>
        <p:spPr>
          <a:xfrm>
            <a:off x="6007608" y="4023360"/>
            <a:ext cx="15087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2E26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Referrals &amp; Group Buys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5"/>
          <p:cNvSpPr/>
          <p:nvPr/>
        </p:nvSpPr>
        <p:spPr>
          <a:xfrm>
            <a:off x="5276088" y="4690872"/>
            <a:ext cx="21488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150"/>
              <a:buFont typeface="Arial"/>
              <a:buNone/>
            </a:pPr>
            <a:r>
              <a:rPr lang="en-US" sz="1050" b="0" i="0" u="none" strike="noStrike" cap="non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Corporate gift boxes, community group purchases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5"/>
          <p:cNvSpPr/>
          <p:nvPr/>
        </p:nvSpPr>
        <p:spPr>
          <a:xfrm>
            <a:off x="5276088" y="5148072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713C"/>
              </a:buClr>
              <a:buSzPts val="1150"/>
              <a:buFont typeface="Arial"/>
              <a:buNone/>
            </a:pPr>
            <a:r>
              <a:rPr lang="en-US" sz="1150" b="1" i="0" u="none" strike="noStrike" cap="none">
                <a:solidFill>
                  <a:srgbClr val="B0713C"/>
                </a:solidFill>
                <a:latin typeface="Arial"/>
                <a:ea typeface="Arial"/>
                <a:cs typeface="Arial"/>
                <a:sym typeface="Arial"/>
              </a:rPr>
              <a:t>Expands the customer base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5"/>
          <p:cNvSpPr/>
          <p:nvPr/>
        </p:nvSpPr>
        <p:spPr>
          <a:xfrm>
            <a:off x="7909560" y="3730752"/>
            <a:ext cx="26517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5"/>
          <p:cNvSpPr/>
          <p:nvPr/>
        </p:nvSpPr>
        <p:spPr>
          <a:xfrm>
            <a:off x="8165592" y="4005072"/>
            <a:ext cx="640080" cy="640080"/>
          </a:xfrm>
          <a:prstGeom prst="ellipse">
            <a:avLst/>
          </a:prstGeom>
          <a:solidFill>
            <a:srgbClr val="D6A3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27" name="Google Shape;327;p15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11896" y="415137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15"/>
          <p:cNvSpPr/>
          <p:nvPr/>
        </p:nvSpPr>
        <p:spPr>
          <a:xfrm>
            <a:off x="8915400" y="402336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2E26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Teaching Kits &amp; Materials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5"/>
          <p:cNvSpPr/>
          <p:nvPr/>
        </p:nvSpPr>
        <p:spPr>
          <a:xfrm>
            <a:off x="8183880" y="4690872"/>
            <a:ext cx="21488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150"/>
              <a:buFont typeface="Arial"/>
              <a:buNone/>
            </a:pPr>
            <a:r>
              <a:rPr lang="en-US" sz="1050" b="0" i="0" u="none" strike="noStrike" cap="non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Food &amp; farming education kits, planting kits, worksheets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5"/>
          <p:cNvSpPr/>
          <p:nvPr/>
        </p:nvSpPr>
        <p:spPr>
          <a:xfrm>
            <a:off x="8183880" y="5148072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6A340"/>
              </a:buClr>
              <a:buSzPts val="1150"/>
              <a:buFont typeface="Arial"/>
              <a:buNone/>
            </a:pPr>
            <a:r>
              <a:rPr lang="en-US" sz="1150" b="1" i="0" u="none" strike="noStrike" cap="none">
                <a:solidFill>
                  <a:srgbClr val="D6A340"/>
                </a:solidFill>
                <a:latin typeface="Arial"/>
                <a:ea typeface="Arial"/>
                <a:cs typeface="Arial"/>
                <a:sym typeface="Arial"/>
              </a:rPr>
              <a:t>Extends educational value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5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5"/>
          <p:cNvSpPr/>
          <p:nvPr/>
        </p:nvSpPr>
        <p:spPr>
          <a:xfrm>
            <a:off x="457200" y="63550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AQUA TEAM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4"/>
        </a:solidFill>
        <a:effectLst/>
      </p:bgPr>
    </p:bg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8"/>
          <p:cNvSpPr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713C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B0713C"/>
                </a:solidFill>
                <a:latin typeface="Arial"/>
                <a:ea typeface="Arial"/>
                <a:cs typeface="Arial"/>
                <a:sym typeface="Arial"/>
              </a:rPr>
              <a:t>KEY METRICS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8"/>
          <p:cNvSpPr/>
          <p:nvPr/>
        </p:nvSpPr>
        <p:spPr>
          <a:xfrm>
            <a:off x="609455" y="957008"/>
            <a:ext cx="109728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3200"/>
              <a:buFont typeface="Arial"/>
              <a:buNone/>
            </a:pPr>
            <a:r>
              <a:rPr lang="en-US" sz="3200" b="1">
                <a:solidFill>
                  <a:srgbClr val="2C5F2D"/>
                </a:solidFill>
              </a:rPr>
              <a:t>Quantitative</a:t>
            </a:r>
            <a:r>
              <a:rPr lang="en-US" sz="3200" b="1" i="0" u="none" strike="noStrike" cap="none">
                <a:solidFill>
                  <a:srgbClr val="2C5F2D"/>
                </a:solidFill>
                <a:latin typeface="Arial"/>
                <a:ea typeface="Arial"/>
                <a:cs typeface="Arial"/>
                <a:sym typeface="Arial"/>
              </a:rPr>
              <a:t>Metrics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8"/>
          <p:cNvSpPr/>
          <p:nvPr/>
        </p:nvSpPr>
        <p:spPr>
          <a:xfrm>
            <a:off x="7984918" y="1803813"/>
            <a:ext cx="3520500" cy="19203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18"/>
          <p:cNvSpPr/>
          <p:nvPr/>
        </p:nvSpPr>
        <p:spPr>
          <a:xfrm>
            <a:off x="8304958" y="2306733"/>
            <a:ext cx="914400" cy="91440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42" name="Google Shape;342;p1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33558" y="2535333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18"/>
          <p:cNvSpPr/>
          <p:nvPr/>
        </p:nvSpPr>
        <p:spPr>
          <a:xfrm>
            <a:off x="9447958" y="2261013"/>
            <a:ext cx="1874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2E26"/>
              </a:buClr>
              <a:buSzPts val="1900"/>
              <a:buFont typeface="Arial"/>
              <a:buNone/>
            </a:pPr>
            <a:r>
              <a:rPr lang="en-US" b="1" i="0" u="none" strike="noStrike" cap="non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Repurchase Rate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8"/>
          <p:cNvSpPr/>
          <p:nvPr/>
        </p:nvSpPr>
        <p:spPr>
          <a:xfrm>
            <a:off x="9447958" y="2736500"/>
            <a:ext cx="18288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250"/>
              <a:buFont typeface="Arial"/>
              <a:buNone/>
            </a:pPr>
            <a:r>
              <a:rPr lang="en-US" sz="1250" b="0" i="0" u="none" strike="noStrike" cap="non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Whether the brand makes customers willing to buy again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8"/>
          <p:cNvSpPr/>
          <p:nvPr/>
        </p:nvSpPr>
        <p:spPr>
          <a:xfrm>
            <a:off x="4335607" y="1803775"/>
            <a:ext cx="3520500" cy="19203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18"/>
          <p:cNvSpPr/>
          <p:nvPr/>
        </p:nvSpPr>
        <p:spPr>
          <a:xfrm>
            <a:off x="4655647" y="2306695"/>
            <a:ext cx="914400" cy="914400"/>
          </a:xfrm>
          <a:prstGeom prst="ellipse">
            <a:avLst/>
          </a:prstGeom>
          <a:solidFill>
            <a:srgbClr val="D6A3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47" name="Google Shape;347;p1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84235" y="253529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18"/>
          <p:cNvSpPr/>
          <p:nvPr/>
        </p:nvSpPr>
        <p:spPr>
          <a:xfrm>
            <a:off x="5798647" y="2260975"/>
            <a:ext cx="1874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2E26"/>
              </a:buClr>
              <a:buSzPts val="1900"/>
              <a:buFont typeface="Arial"/>
              <a:buNone/>
            </a:pPr>
            <a:r>
              <a:rPr lang="en-US" b="1" i="0" u="none" strike="noStrike" cap="non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Membership Conversion Rate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8"/>
          <p:cNvSpPr/>
          <p:nvPr/>
        </p:nvSpPr>
        <p:spPr>
          <a:xfrm>
            <a:off x="5798647" y="2736463"/>
            <a:ext cx="18288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250"/>
              <a:buFont typeface="Arial"/>
              <a:buNone/>
            </a:pPr>
            <a:r>
              <a:rPr lang="en-US" sz="1250" b="0" i="0" u="none" strike="noStrike" cap="non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How many customers are willing to become members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8"/>
          <p:cNvSpPr/>
          <p:nvPr/>
        </p:nvSpPr>
        <p:spPr>
          <a:xfrm>
            <a:off x="609455" y="1803822"/>
            <a:ext cx="3520500" cy="19203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18"/>
          <p:cNvSpPr/>
          <p:nvPr/>
        </p:nvSpPr>
        <p:spPr>
          <a:xfrm>
            <a:off x="929495" y="2306742"/>
            <a:ext cx="914400" cy="914400"/>
          </a:xfrm>
          <a:prstGeom prst="ellipse">
            <a:avLst/>
          </a:prstGeom>
          <a:solidFill>
            <a:srgbClr val="6E9E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52" name="Google Shape;352;p1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58095" y="253534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18"/>
          <p:cNvSpPr/>
          <p:nvPr/>
        </p:nvSpPr>
        <p:spPr>
          <a:xfrm>
            <a:off x="2072495" y="2261022"/>
            <a:ext cx="1874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2E26"/>
              </a:buClr>
              <a:buSzPts val="1900"/>
              <a:buFont typeface="Arial"/>
              <a:buNone/>
            </a:pPr>
            <a:r>
              <a:rPr lang="en-US" b="1" i="0" u="none" strike="noStrike" cap="none" dirty="0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Event-to-Purchase Conversion Rate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8"/>
          <p:cNvSpPr/>
          <p:nvPr/>
        </p:nvSpPr>
        <p:spPr>
          <a:xfrm>
            <a:off x="2072495" y="2736510"/>
            <a:ext cx="18288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250"/>
              <a:buFont typeface="Arial"/>
              <a:buNone/>
            </a:pPr>
            <a:r>
              <a:rPr lang="en-US" sz="1250" b="0" i="0" u="none" strike="noStrike" cap="non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How many people place an order after attending an event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5" name="Google Shape;355;p18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9856" y="5232708"/>
            <a:ext cx="372108" cy="372108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18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8"/>
          <p:cNvSpPr/>
          <p:nvPr/>
        </p:nvSpPr>
        <p:spPr>
          <a:xfrm>
            <a:off x="457200" y="6355075"/>
            <a:ext cx="5912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AQUA TEAM</a:t>
            </a:r>
            <a:r>
              <a:rPr lang="en-US" sz="1000">
                <a:solidFill>
                  <a:srgbClr val="6B7266"/>
                </a:solidFill>
              </a:rPr>
              <a:t> 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8" name="Google Shape;358;p18" title="LINE_ALBUM_簡報用_260702_2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86273" y="3997074"/>
            <a:ext cx="3412533" cy="192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18" title="LINE_ALBUM_簡報用_260702_8.jp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362604" y="3997077"/>
            <a:ext cx="3412533" cy="1920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18" title="LINE_ALBUM_簡報用_260702_12.jp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038915" y="3997098"/>
            <a:ext cx="3412525" cy="19202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D1C"/>
        </a:solidFill>
        <a:effectLst/>
      </p:bgPr>
    </p:bg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9"/>
          <p:cNvSpPr/>
          <p:nvPr/>
        </p:nvSpPr>
        <p:spPr>
          <a:xfrm>
            <a:off x="8961120" y="-1828800"/>
            <a:ext cx="5486400" cy="548640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19"/>
          <p:cNvSpPr/>
          <p:nvPr/>
        </p:nvSpPr>
        <p:spPr>
          <a:xfrm>
            <a:off x="-1645920" y="4206240"/>
            <a:ext cx="4114800" cy="4114800"/>
          </a:xfrm>
          <a:prstGeom prst="ellipse">
            <a:avLst/>
          </a:prstGeom>
          <a:solidFill>
            <a:srgbClr val="6E9E4F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68" name="Google Shape;368;p1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7240" y="914400"/>
            <a:ext cx="777240" cy="77724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19"/>
          <p:cNvSpPr/>
          <p:nvPr/>
        </p:nvSpPr>
        <p:spPr>
          <a:xfrm>
            <a:off x="777240" y="1920240"/>
            <a:ext cx="62331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Let Every Stalk of Sugarcane</a:t>
            </a:r>
            <a:r>
              <a:rPr lang="en-US" sz="3200" b="1" dirty="0">
                <a:solidFill>
                  <a:srgbClr val="FFFFFF"/>
                </a:solidFill>
              </a:rPr>
              <a:t> Be Squeezed for All It's Worth</a:t>
            </a:r>
            <a:r>
              <a:rPr lang="en-US" sz="32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9"/>
          <p:cNvSpPr/>
          <p:nvPr/>
        </p:nvSpPr>
        <p:spPr>
          <a:xfrm>
            <a:off x="795525" y="3063254"/>
            <a:ext cx="7817897" cy="10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6A340"/>
              </a:buClr>
              <a:buSzPts val="22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D6A340"/>
                </a:solidFill>
                <a:latin typeface="Arial"/>
                <a:ea typeface="Arial"/>
                <a:cs typeface="Arial"/>
                <a:sym typeface="Arial"/>
              </a:rPr>
              <a:t>Multi-Use Crops</a:t>
            </a:r>
            <a:r>
              <a:rPr lang="en-US" sz="20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Maximize Value;</a:t>
            </a:r>
            <a:endParaRPr sz="2000" b="1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6A340"/>
              </a:buClr>
              <a:buSzPts val="22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D6A340"/>
                </a:solidFill>
                <a:latin typeface="Arial"/>
                <a:ea typeface="Arial"/>
                <a:cs typeface="Arial"/>
                <a:sym typeface="Arial"/>
              </a:rPr>
              <a:t>Brand Word of Mouth</a:t>
            </a:r>
            <a:r>
              <a:rPr lang="en-US" sz="20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Makes</a:t>
            </a:r>
            <a:r>
              <a:rPr lang="en-US" sz="2000" b="1" dirty="0">
                <a:solidFill>
                  <a:srgbClr val="FFFFFF"/>
                </a:solidFill>
              </a:rPr>
              <a:t> Relationships</a:t>
            </a:r>
            <a:r>
              <a:rPr lang="en-US" sz="20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Last Longer;</a:t>
            </a:r>
            <a:endParaRPr sz="2000" b="1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6A340"/>
              </a:buClr>
              <a:buSzPts val="2200"/>
              <a:buFont typeface="Arial"/>
              <a:buNone/>
            </a:pPr>
            <a:r>
              <a:rPr lang="en-US" sz="2000" b="1" dirty="0">
                <a:solidFill>
                  <a:srgbClr val="D6A340"/>
                </a:solidFill>
              </a:rPr>
              <a:t>Diverse</a:t>
            </a:r>
            <a:r>
              <a:rPr lang="en-US" sz="2000" b="1" i="0" u="none" strike="noStrike" cap="none" dirty="0">
                <a:solidFill>
                  <a:srgbClr val="D6A340"/>
                </a:solidFill>
                <a:latin typeface="Arial"/>
                <a:ea typeface="Arial"/>
                <a:cs typeface="Arial"/>
                <a:sym typeface="Arial"/>
              </a:rPr>
              <a:t> Income</a:t>
            </a:r>
            <a:r>
              <a:rPr lang="en-US" sz="20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Sustains the Dream.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9"/>
          <p:cNvSpPr/>
          <p:nvPr/>
        </p:nvSpPr>
        <p:spPr>
          <a:xfrm>
            <a:off x="838040" y="4365040"/>
            <a:ext cx="105156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7BC62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97BC62"/>
                </a:solidFill>
                <a:latin typeface="Arial"/>
                <a:ea typeface="Arial"/>
                <a:cs typeface="Arial"/>
                <a:sym typeface="Arial"/>
              </a:rPr>
              <a:t>From “Growing Agricultural Products” to “Creating Brand Value.”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2" name="Google Shape;372;p19"/>
          <p:cNvCxnSpPr/>
          <p:nvPr/>
        </p:nvCxnSpPr>
        <p:spPr>
          <a:xfrm>
            <a:off x="822960" y="5029200"/>
            <a:ext cx="4114800" cy="0"/>
          </a:xfrm>
          <a:prstGeom prst="straightConnector1">
            <a:avLst/>
          </a:prstGeom>
          <a:noFill/>
          <a:ln w="19050" cap="flat" cmpd="sng">
            <a:solidFill>
              <a:srgbClr val="6E9E4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3" name="Google Shape;373;p19"/>
          <p:cNvSpPr/>
          <p:nvPr/>
        </p:nvSpPr>
        <p:spPr>
          <a:xfrm>
            <a:off x="822948" y="5212075"/>
            <a:ext cx="6724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AQUA TEAM </a:t>
            </a:r>
            <a:r>
              <a:rPr lang="en-US" sz="1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- aquaguy、aquagod、aquaman、aquawoman、kkbox、aquawarrior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9"/>
          <p:cNvSpPr/>
          <p:nvPr/>
        </p:nvSpPr>
        <p:spPr>
          <a:xfrm>
            <a:off x="822960" y="571500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7D3BC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C7D3BC"/>
                </a:solidFill>
                <a:latin typeface="Arial"/>
                <a:ea typeface="Arial"/>
                <a:cs typeface="Arial"/>
                <a:sym typeface="Arial"/>
              </a:rPr>
              <a:t>Thank You for Listening · Let’s Turn the Pastoral Dream into an Everyday Life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5" name="Google Shape;375;p19" title="LINE_ALBUM_簡報用_260702_10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32546" y="0"/>
            <a:ext cx="3859133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BFAF4"/>
        </a:solidFill>
        <a:effectLst/>
      </p:bgPr>
    </p:bg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5"/>
          <p:cNvSpPr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713C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B0713C"/>
                </a:solidFill>
                <a:latin typeface="Arial"/>
                <a:ea typeface="Arial"/>
                <a:cs typeface="Arial"/>
                <a:sym typeface="Arial"/>
              </a:rPr>
              <a:t>STEP 1–2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5"/>
          <p:cNvSpPr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2C5F2D"/>
                </a:solidFill>
                <a:latin typeface="Arial"/>
                <a:ea typeface="Arial"/>
                <a:cs typeface="Arial"/>
                <a:sym typeface="Arial"/>
              </a:rPr>
              <a:t>First Understand the Crop, Then Understand the Market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5"/>
          <p:cNvSpPr/>
          <p:nvPr/>
        </p:nvSpPr>
        <p:spPr>
          <a:xfrm>
            <a:off x="640080" y="1737360"/>
            <a:ext cx="5349240" cy="4343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5"/>
          <p:cNvSpPr/>
          <p:nvPr/>
        </p:nvSpPr>
        <p:spPr>
          <a:xfrm>
            <a:off x="1005840" y="2103120"/>
            <a:ext cx="914400" cy="91440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5"/>
          <p:cNvSpPr/>
          <p:nvPr/>
        </p:nvSpPr>
        <p:spPr>
          <a:xfrm>
            <a:off x="1005840" y="210312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5"/>
          <p:cNvSpPr/>
          <p:nvPr/>
        </p:nvSpPr>
        <p:spPr>
          <a:xfrm>
            <a:off x="2103120" y="2121408"/>
            <a:ext cx="36118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2C5F2D"/>
                </a:solidFill>
                <a:latin typeface="Arial"/>
                <a:ea typeface="Arial"/>
                <a:cs typeface="Arial"/>
                <a:sym typeface="Arial"/>
              </a:rPr>
              <a:t>CROP DISCOVERY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5"/>
          <p:cNvSpPr/>
          <p:nvPr/>
        </p:nvSpPr>
        <p:spPr>
          <a:xfrm>
            <a:off x="2103120" y="2395728"/>
            <a:ext cx="36118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2E26"/>
              </a:buClr>
              <a:buSzPts val="21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Rediscover Your Crop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5"/>
          <p:cNvSpPr/>
          <p:nvPr/>
        </p:nvSpPr>
        <p:spPr>
          <a:xfrm>
            <a:off x="1051560" y="3048145"/>
            <a:ext cx="45720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350"/>
              <a:buFont typeface="Arial"/>
              <a:buNone/>
            </a:pPr>
            <a:r>
              <a:rPr lang="en-US" sz="1350" b="0" i="1" u="none" strike="noStrike" cap="none" dirty="0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What resources do I actually have?</a:t>
            </a:r>
            <a:endParaRPr sz="1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5"/>
          <p:cNvSpPr/>
          <p:nvPr/>
        </p:nvSpPr>
        <p:spPr>
          <a:xfrm>
            <a:off x="1143000" y="3639312"/>
            <a:ext cx="4480500" cy="15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77800" marR="0" lvl="0" indent="-17780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2A2E26"/>
              </a:buClr>
              <a:buSzPts val="1350"/>
              <a:buFont typeface="Arial"/>
              <a:buChar char="•"/>
            </a:pPr>
            <a:r>
              <a:rPr lang="en-US" sz="1050" b="0" i="0" u="none" strike="noStrike" cap="none" dirty="0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What are the main crops? When is yield highest?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lnSpc>
                <a:spcPct val="118000"/>
              </a:lnSpc>
              <a:spcBef>
                <a:spcPts val="400"/>
              </a:spcBef>
              <a:spcAft>
                <a:spcPts val="0"/>
              </a:spcAft>
              <a:buClr>
                <a:srgbClr val="2A2E26"/>
              </a:buClr>
              <a:buSzPts val="1350"/>
              <a:buFont typeface="Arial"/>
              <a:buChar char="•"/>
            </a:pPr>
            <a:r>
              <a:rPr lang="en-US" sz="1050" b="0" i="0" u="none" strike="noStrike" cap="none" dirty="0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Which items are often left over or hard to sell because of appearance?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lnSpc>
                <a:spcPct val="118000"/>
              </a:lnSpc>
              <a:spcBef>
                <a:spcPts val="400"/>
              </a:spcBef>
              <a:spcAft>
                <a:spcPts val="0"/>
              </a:spcAft>
              <a:buClr>
                <a:srgbClr val="2A2E26"/>
              </a:buClr>
              <a:buSzPts val="1350"/>
              <a:buFont typeface="Arial"/>
              <a:buChar char="•"/>
            </a:pPr>
            <a:r>
              <a:rPr lang="en-US" sz="1050" b="0" i="0" u="none" strike="noStrike" cap="none" dirty="0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Which have the best quality and the most local character?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lnSpc>
                <a:spcPct val="118000"/>
              </a:lnSpc>
              <a:spcBef>
                <a:spcPts val="400"/>
              </a:spcBef>
              <a:spcAft>
                <a:spcPts val="0"/>
              </a:spcAft>
              <a:buClr>
                <a:srgbClr val="2A2E26"/>
              </a:buClr>
              <a:buSzPts val="1350"/>
              <a:buFont typeface="Arial"/>
              <a:buChar char="•"/>
            </a:pPr>
            <a:r>
              <a:rPr lang="en-US" sz="1050" b="0" i="0" u="none" strike="noStrike" cap="none" dirty="0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Output: a crop resource inventory (e.g., sugarcane — high sweetness, weather-resistant, lots of surplus material)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5"/>
          <p:cNvSpPr/>
          <p:nvPr/>
        </p:nvSpPr>
        <p:spPr>
          <a:xfrm>
            <a:off x="960120" y="5303520"/>
            <a:ext cx="4709160" cy="548640"/>
          </a:xfrm>
          <a:prstGeom prst="roundRect">
            <a:avLst>
              <a:gd name="adj" fmla="val 10000"/>
            </a:avLst>
          </a:prstGeom>
          <a:solidFill>
            <a:srgbClr val="F3F5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5"/>
          <p:cNvSpPr/>
          <p:nvPr/>
        </p:nvSpPr>
        <p:spPr>
          <a:xfrm>
            <a:off x="1097280" y="5303520"/>
            <a:ext cx="44348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2C5F2D"/>
                </a:solidFill>
                <a:latin typeface="Arial"/>
                <a:ea typeface="Arial"/>
                <a:cs typeface="Arial"/>
                <a:sym typeface="Arial"/>
              </a:rPr>
              <a:t>Core:</a:t>
            </a:r>
            <a:r>
              <a:rPr lang="en-US" sz="1300" b="0" i="0" u="none" strike="noStrike" cap="non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Treat the crop as a “resource,” not just an agricultural product.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5"/>
          <p:cNvSpPr/>
          <p:nvPr/>
        </p:nvSpPr>
        <p:spPr>
          <a:xfrm>
            <a:off x="6492240" y="1737360"/>
            <a:ext cx="5349240" cy="4343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5"/>
          <p:cNvSpPr/>
          <p:nvPr/>
        </p:nvSpPr>
        <p:spPr>
          <a:xfrm>
            <a:off x="6858000" y="2103120"/>
            <a:ext cx="914400" cy="914400"/>
          </a:xfrm>
          <a:prstGeom prst="ellipse">
            <a:avLst/>
          </a:prstGeom>
          <a:solidFill>
            <a:srgbClr val="B0713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5"/>
          <p:cNvSpPr/>
          <p:nvPr/>
        </p:nvSpPr>
        <p:spPr>
          <a:xfrm>
            <a:off x="6858000" y="210312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5"/>
          <p:cNvSpPr/>
          <p:nvPr/>
        </p:nvSpPr>
        <p:spPr>
          <a:xfrm>
            <a:off x="7955280" y="2121408"/>
            <a:ext cx="36118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713C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B0713C"/>
                </a:solidFill>
                <a:latin typeface="Arial"/>
                <a:ea typeface="Arial"/>
                <a:cs typeface="Arial"/>
                <a:sym typeface="Arial"/>
              </a:rPr>
              <a:t>CUSTOMER DISCOVERY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5"/>
          <p:cNvSpPr/>
          <p:nvPr/>
        </p:nvSpPr>
        <p:spPr>
          <a:xfrm>
            <a:off x="7955280" y="2395728"/>
            <a:ext cx="36118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2E26"/>
              </a:buClr>
              <a:buSzPts val="2100"/>
              <a:buFont typeface="Arial"/>
              <a:buNone/>
            </a:pPr>
            <a:r>
              <a:rPr lang="en-US" sz="2000" b="1" i="0" u="none" strike="noStrike" cap="non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Re-Examine Market Demand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5"/>
          <p:cNvSpPr/>
          <p:nvPr/>
        </p:nvSpPr>
        <p:spPr>
          <a:xfrm>
            <a:off x="6903720" y="3048145"/>
            <a:ext cx="45720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350"/>
              <a:buFont typeface="Arial"/>
              <a:buNone/>
            </a:pPr>
            <a:r>
              <a:rPr lang="en-US" sz="1350" b="0" i="1" u="none" strike="noStrike" cap="non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Many processed products fail not because they’re bad, but because no one needs them.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5"/>
          <p:cNvSpPr/>
          <p:nvPr/>
        </p:nvSpPr>
        <p:spPr>
          <a:xfrm>
            <a:off x="6995160" y="3871105"/>
            <a:ext cx="448056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77800" marR="0" lvl="0" indent="-17780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2A2E26"/>
              </a:buClr>
              <a:buSzPts val="1350"/>
              <a:buFont typeface="Arial"/>
              <a:buChar char="•"/>
            </a:pPr>
            <a:r>
              <a:rPr lang="en-US" sz="1050" b="0" i="0" u="none" strike="noStrike" cap="non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Who will buy? Tourists, families, campers, gift-givers, corporate gift boxes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lnSpc>
                <a:spcPct val="118000"/>
              </a:lnSpc>
              <a:spcBef>
                <a:spcPts val="400"/>
              </a:spcBef>
              <a:spcAft>
                <a:spcPts val="0"/>
              </a:spcAft>
              <a:buClr>
                <a:srgbClr val="2A2E26"/>
              </a:buClr>
              <a:buSzPts val="1350"/>
              <a:buFont typeface="Arial"/>
              <a:buChar char="•"/>
            </a:pPr>
            <a:r>
              <a:rPr lang="en-US" sz="1050" b="0" i="0" u="none" strike="noStrike" cap="non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What they really want is convenience, health, experience, and a story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lnSpc>
                <a:spcPct val="118000"/>
              </a:lnSpc>
              <a:spcBef>
                <a:spcPts val="400"/>
              </a:spcBef>
              <a:spcAft>
                <a:spcPts val="0"/>
              </a:spcAft>
              <a:buClr>
                <a:srgbClr val="2A2E26"/>
              </a:buClr>
              <a:buSzPts val="1350"/>
              <a:buFont typeface="Arial"/>
              <a:buChar char="•"/>
            </a:pPr>
            <a:r>
              <a:rPr lang="en-US" sz="1050" b="0" i="0" u="none" strike="noStrike" cap="non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Output: a customer needs map (tourists → want to bring home Yilan specialties → souvenirs)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5"/>
          <p:cNvSpPr/>
          <p:nvPr/>
        </p:nvSpPr>
        <p:spPr>
          <a:xfrm>
            <a:off x="6812280" y="5303520"/>
            <a:ext cx="4709160" cy="548640"/>
          </a:xfrm>
          <a:prstGeom prst="roundRect">
            <a:avLst>
              <a:gd name="adj" fmla="val 10000"/>
            </a:avLst>
          </a:prstGeom>
          <a:solidFill>
            <a:srgbClr val="F3F5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5"/>
          <p:cNvSpPr/>
          <p:nvPr/>
        </p:nvSpPr>
        <p:spPr>
          <a:xfrm>
            <a:off x="6949440" y="5303520"/>
            <a:ext cx="44348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713C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B0713C"/>
                </a:solidFill>
                <a:latin typeface="Arial"/>
                <a:ea typeface="Arial"/>
                <a:cs typeface="Arial"/>
                <a:sym typeface="Arial"/>
              </a:rPr>
              <a:t>Core:</a:t>
            </a:r>
            <a:r>
              <a:rPr lang="en-US" sz="1300" b="0" i="0" u="none" strike="noStrike" cap="non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Don’t sell the crop — sell the need.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5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5"/>
          <p:cNvSpPr/>
          <p:nvPr/>
        </p:nvSpPr>
        <p:spPr>
          <a:xfrm>
            <a:off x="457200" y="63550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AQUA TEAM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BFAF4"/>
        </a:solidFill>
        <a:effectLst/>
      </p:bgPr>
    </p:bg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6"/>
          <p:cNvSpPr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713C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B0713C"/>
                </a:solidFill>
                <a:latin typeface="Arial"/>
                <a:ea typeface="Arial"/>
                <a:cs typeface="Arial"/>
                <a:sym typeface="Arial"/>
              </a:rPr>
              <a:t>STEP 3–4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6"/>
          <p:cNvSpPr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2C5F2D"/>
                </a:solidFill>
                <a:latin typeface="Arial"/>
                <a:ea typeface="Arial"/>
                <a:cs typeface="Arial"/>
                <a:sym typeface="Arial"/>
              </a:rPr>
              <a:t>First Brainstorm Possibilities, Then Borrow Inspiration from the World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6"/>
          <p:cNvSpPr/>
          <p:nvPr/>
        </p:nvSpPr>
        <p:spPr>
          <a:xfrm>
            <a:off x="640080" y="1737360"/>
            <a:ext cx="5349240" cy="4343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6"/>
          <p:cNvSpPr/>
          <p:nvPr/>
        </p:nvSpPr>
        <p:spPr>
          <a:xfrm>
            <a:off x="1005840" y="2103120"/>
            <a:ext cx="914400" cy="91440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6"/>
          <p:cNvSpPr/>
          <p:nvPr/>
        </p:nvSpPr>
        <p:spPr>
          <a:xfrm>
            <a:off x="1005840" y="210312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6"/>
          <p:cNvSpPr/>
          <p:nvPr/>
        </p:nvSpPr>
        <p:spPr>
          <a:xfrm>
            <a:off x="2103120" y="2121408"/>
            <a:ext cx="36118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2C5F2D"/>
                </a:solidFill>
                <a:latin typeface="Arial"/>
                <a:ea typeface="Arial"/>
                <a:cs typeface="Arial"/>
                <a:sym typeface="Arial"/>
              </a:rPr>
              <a:t>VALUE EXPANSION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6"/>
          <p:cNvSpPr/>
          <p:nvPr/>
        </p:nvSpPr>
        <p:spPr>
          <a:xfrm>
            <a:off x="2103120" y="2395728"/>
            <a:ext cx="36118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2E26"/>
              </a:buClr>
              <a:buSzPts val="21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Expand Processing Possibilities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6"/>
          <p:cNvSpPr/>
          <p:nvPr/>
        </p:nvSpPr>
        <p:spPr>
          <a:xfrm>
            <a:off x="1051560" y="3049524"/>
            <a:ext cx="45720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350"/>
              <a:buFont typeface="Arial"/>
              <a:buNone/>
            </a:pPr>
            <a:r>
              <a:rPr lang="en-US" sz="1350" b="0" i="1" u="none" strike="noStrike" cap="none" dirty="0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For each agricultural product, brainstorm at least 10 ways to process it.</a:t>
            </a:r>
            <a:endParaRPr sz="1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6"/>
          <p:cNvSpPr/>
          <p:nvPr/>
        </p:nvSpPr>
        <p:spPr>
          <a:xfrm>
            <a:off x="1143000" y="3872484"/>
            <a:ext cx="448056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77800" marR="0" lvl="0" indent="-17780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2A2E26"/>
              </a:buClr>
              <a:buSzPts val="1350"/>
              <a:buFont typeface="Arial"/>
              <a:buChar char="•"/>
            </a:pPr>
            <a:r>
              <a:rPr lang="en-US" sz="1050" b="0" i="0" u="none" strike="noStrike" cap="none" dirty="0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Rice → rice wine, rice crackers, rice puffs, rice ice cream, rice milk, rice snacks...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lnSpc>
                <a:spcPct val="118000"/>
              </a:lnSpc>
              <a:spcBef>
                <a:spcPts val="400"/>
              </a:spcBef>
              <a:spcAft>
                <a:spcPts val="0"/>
              </a:spcAft>
              <a:buClr>
                <a:srgbClr val="2A2E26"/>
              </a:buClr>
              <a:buSzPts val="1350"/>
              <a:buFont typeface="Arial"/>
              <a:buChar char="•"/>
            </a:pPr>
            <a:r>
              <a:rPr lang="en-US" sz="1050" b="0" i="0" u="none" strike="noStrike" cap="none" dirty="0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Sugarcane → brown sugar, syrup, popsicles, fermented drinks, DIY materials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lnSpc>
                <a:spcPct val="118000"/>
              </a:lnSpc>
              <a:spcBef>
                <a:spcPts val="400"/>
              </a:spcBef>
              <a:spcAft>
                <a:spcPts val="0"/>
              </a:spcAft>
              <a:buClr>
                <a:srgbClr val="2A2E26"/>
              </a:buClr>
              <a:buSzPts val="1350"/>
              <a:buFont typeface="Arial"/>
              <a:buChar char="•"/>
            </a:pPr>
            <a:r>
              <a:rPr lang="en-US" sz="1050" b="0" i="0" u="none" strike="noStrike" cap="none" dirty="0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Categories: food / beverages / desserts / skincare / creative goods / experiences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6"/>
          <p:cNvSpPr/>
          <p:nvPr/>
        </p:nvSpPr>
        <p:spPr>
          <a:xfrm>
            <a:off x="960120" y="5303520"/>
            <a:ext cx="4709160" cy="548640"/>
          </a:xfrm>
          <a:prstGeom prst="roundRect">
            <a:avLst>
              <a:gd name="adj" fmla="val 10000"/>
            </a:avLst>
          </a:prstGeom>
          <a:solidFill>
            <a:srgbClr val="F3F5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6"/>
          <p:cNvSpPr/>
          <p:nvPr/>
        </p:nvSpPr>
        <p:spPr>
          <a:xfrm>
            <a:off x="1097280" y="5303520"/>
            <a:ext cx="44348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2C5F2D"/>
                </a:solidFill>
                <a:latin typeface="Arial"/>
                <a:ea typeface="Arial"/>
                <a:cs typeface="Arial"/>
                <a:sym typeface="Arial"/>
              </a:rPr>
              <a:t>Core:</a:t>
            </a:r>
            <a:r>
              <a:rPr lang="en-US" sz="1300" b="0" i="0" u="none" strike="noStrike" cap="non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Don’t settle for one answer — brainstorm broadly first.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6"/>
          <p:cNvSpPr/>
          <p:nvPr/>
        </p:nvSpPr>
        <p:spPr>
          <a:xfrm>
            <a:off x="6492240" y="1737360"/>
            <a:ext cx="5349240" cy="4343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6"/>
          <p:cNvSpPr/>
          <p:nvPr/>
        </p:nvSpPr>
        <p:spPr>
          <a:xfrm>
            <a:off x="6858000" y="2103120"/>
            <a:ext cx="914400" cy="914400"/>
          </a:xfrm>
          <a:prstGeom prst="ellipse">
            <a:avLst/>
          </a:prstGeom>
          <a:solidFill>
            <a:srgbClr val="B0713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6"/>
          <p:cNvSpPr/>
          <p:nvPr/>
        </p:nvSpPr>
        <p:spPr>
          <a:xfrm>
            <a:off x="6858000" y="210312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6"/>
          <p:cNvSpPr/>
          <p:nvPr/>
        </p:nvSpPr>
        <p:spPr>
          <a:xfrm>
            <a:off x="7955280" y="2121408"/>
            <a:ext cx="36118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713C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B0713C"/>
                </a:solidFill>
                <a:latin typeface="Arial"/>
                <a:ea typeface="Arial"/>
                <a:cs typeface="Arial"/>
                <a:sym typeface="Arial"/>
              </a:rPr>
              <a:t>INSPIRATION SEARCH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6"/>
          <p:cNvSpPr/>
          <p:nvPr/>
        </p:nvSpPr>
        <p:spPr>
          <a:xfrm>
            <a:off x="7955280" y="2395728"/>
            <a:ext cx="36118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2E26"/>
              </a:buClr>
              <a:buSzPts val="2100"/>
              <a:buFont typeface="Arial"/>
              <a:buNone/>
            </a:pPr>
            <a:r>
              <a:rPr lang="en-US" sz="2000" b="1" i="0" u="none" strike="noStrike" cap="non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Search for Outside Inspiration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6"/>
          <p:cNvSpPr/>
          <p:nvPr/>
        </p:nvSpPr>
        <p:spPr>
          <a:xfrm>
            <a:off x="6903720" y="3049524"/>
            <a:ext cx="45720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350"/>
              <a:buFont typeface="Arial"/>
              <a:buNone/>
            </a:pPr>
            <a:r>
              <a:rPr lang="en-US" sz="1350" b="0" i="1" u="none" strike="noStrike" cap="non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No need to reinvent the wheel — learn from examples around the world.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6"/>
          <p:cNvSpPr/>
          <p:nvPr/>
        </p:nvSpPr>
        <p:spPr>
          <a:xfrm>
            <a:off x="6995160" y="3872484"/>
            <a:ext cx="448056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77800" marR="0" lvl="0" indent="-17780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2A2E26"/>
              </a:buClr>
              <a:buSzPts val="1350"/>
              <a:buFont typeface="Arial"/>
              <a:buChar char="•"/>
            </a:pPr>
            <a:r>
              <a:rPr lang="en-US" sz="1050" b="0" i="0" u="none" strike="noStrike" cap="non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Research cases from Japan, Korea, Europe, and counties across Taiwan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lnSpc>
                <a:spcPct val="118000"/>
              </a:lnSpc>
              <a:spcBef>
                <a:spcPts val="400"/>
              </a:spcBef>
              <a:spcAft>
                <a:spcPts val="0"/>
              </a:spcAft>
              <a:buClr>
                <a:srgbClr val="2A2E26"/>
              </a:buClr>
              <a:buSzPts val="1350"/>
              <a:buFont typeface="Arial"/>
              <a:buChar char="•"/>
            </a:pPr>
            <a:r>
              <a:rPr lang="en-US" sz="1050" b="0" i="0" u="none" strike="noStrike" cap="non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How do local revitalization projects, farmers’ associations, and creative brands do it?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lnSpc>
                <a:spcPct val="118000"/>
              </a:lnSpc>
              <a:spcBef>
                <a:spcPts val="400"/>
              </a:spcBef>
              <a:spcAft>
                <a:spcPts val="0"/>
              </a:spcAft>
              <a:buClr>
                <a:srgbClr val="2A2E26"/>
              </a:buClr>
              <a:buSzPts val="1350"/>
              <a:buFont typeface="Arial"/>
              <a:buChar char="•"/>
            </a:pPr>
            <a:r>
              <a:rPr lang="en-US" sz="1050" b="0" i="0" u="none" strike="noStrike" cap="non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Cross-disciplinary collaboration: food science, design, agricultural research stations, research institutions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6"/>
          <p:cNvSpPr/>
          <p:nvPr/>
        </p:nvSpPr>
        <p:spPr>
          <a:xfrm>
            <a:off x="6812280" y="5303520"/>
            <a:ext cx="4709160" cy="548640"/>
          </a:xfrm>
          <a:prstGeom prst="roundRect">
            <a:avLst>
              <a:gd name="adj" fmla="val 10000"/>
            </a:avLst>
          </a:prstGeom>
          <a:solidFill>
            <a:srgbClr val="F3F5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6"/>
          <p:cNvSpPr/>
          <p:nvPr/>
        </p:nvSpPr>
        <p:spPr>
          <a:xfrm>
            <a:off x="6949440" y="5303520"/>
            <a:ext cx="44348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713C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B0713C"/>
                </a:solidFill>
                <a:latin typeface="Arial"/>
                <a:ea typeface="Arial"/>
                <a:cs typeface="Arial"/>
                <a:sym typeface="Arial"/>
              </a:rPr>
              <a:t>Core:</a:t>
            </a:r>
            <a:r>
              <a:rPr lang="en-US" sz="1300" b="0" i="0" u="none" strike="noStrike" cap="non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Don’t just look at competitors — look for inspiration across different industries.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6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6"/>
          <p:cNvSpPr/>
          <p:nvPr/>
        </p:nvSpPr>
        <p:spPr>
          <a:xfrm>
            <a:off x="457200" y="63550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AQUA TEAM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BFAF4"/>
        </a:solidFill>
        <a:effectLst/>
      </p:bgPr>
    </p:bg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7"/>
          <p:cNvSpPr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713C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B0713C"/>
                </a:solidFill>
                <a:latin typeface="Arial"/>
                <a:ea typeface="Arial"/>
                <a:cs typeface="Arial"/>
                <a:sym typeface="Arial"/>
              </a:rPr>
              <a:t>STEP 5–6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7"/>
          <p:cNvSpPr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2C5F2D"/>
                </a:solidFill>
                <a:latin typeface="Arial"/>
                <a:ea typeface="Arial"/>
                <a:cs typeface="Arial"/>
                <a:sym typeface="Arial"/>
              </a:rPr>
              <a:t>Connect Local Partners, Tell a Great Brand Story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7"/>
          <p:cNvSpPr/>
          <p:nvPr/>
        </p:nvSpPr>
        <p:spPr>
          <a:xfrm>
            <a:off x="640080" y="1737360"/>
            <a:ext cx="5349240" cy="4343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7"/>
          <p:cNvSpPr/>
          <p:nvPr/>
        </p:nvSpPr>
        <p:spPr>
          <a:xfrm>
            <a:off x="1005840" y="2103120"/>
            <a:ext cx="914400" cy="91440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7"/>
          <p:cNvSpPr/>
          <p:nvPr/>
        </p:nvSpPr>
        <p:spPr>
          <a:xfrm>
            <a:off x="1005840" y="210312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7"/>
          <p:cNvSpPr/>
          <p:nvPr/>
        </p:nvSpPr>
        <p:spPr>
          <a:xfrm>
            <a:off x="2103120" y="2121408"/>
            <a:ext cx="36118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2C5F2D"/>
                </a:solidFill>
                <a:latin typeface="Arial"/>
                <a:ea typeface="Arial"/>
                <a:cs typeface="Arial"/>
                <a:sym typeface="Arial"/>
              </a:rPr>
              <a:t>LOCAL COLLABORATION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7"/>
          <p:cNvSpPr/>
          <p:nvPr/>
        </p:nvSpPr>
        <p:spPr>
          <a:xfrm>
            <a:off x="2103120" y="2395728"/>
            <a:ext cx="36118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2E26"/>
              </a:buClr>
              <a:buSzPts val="21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Build a Local Co-Creation Model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7"/>
          <p:cNvSpPr/>
          <p:nvPr/>
        </p:nvSpPr>
        <p:spPr>
          <a:xfrm>
            <a:off x="1051560" y="3081528"/>
            <a:ext cx="45720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350"/>
              <a:buFont typeface="Arial"/>
              <a:buNone/>
            </a:pPr>
            <a:r>
              <a:rPr lang="en-US" sz="1350" b="0" i="1" u="none" strike="noStrike" cap="non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It’s hard for a single small farmer to do everything, so build a collaboration network.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7"/>
          <p:cNvSpPr/>
          <p:nvPr/>
        </p:nvSpPr>
        <p:spPr>
          <a:xfrm>
            <a:off x="1143000" y="3904488"/>
            <a:ext cx="448056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77800" marR="0" lvl="0" indent="-17780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2A2E26"/>
              </a:buClr>
              <a:buSzPts val="1350"/>
              <a:buFont typeface="Arial"/>
              <a:buChar char="•"/>
            </a:pPr>
            <a:r>
              <a:rPr lang="en-US" sz="1050" b="0" i="0" u="none" strike="noStrike" cap="none" dirty="0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Inventory: nearby small farmers, processing plants, packaging designers, farmers’ associations, restaurants, schools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lnSpc>
                <a:spcPct val="118000"/>
              </a:lnSpc>
              <a:spcBef>
                <a:spcPts val="400"/>
              </a:spcBef>
              <a:spcAft>
                <a:spcPts val="0"/>
              </a:spcAft>
              <a:buClr>
                <a:srgbClr val="2A2E26"/>
              </a:buClr>
              <a:buSzPts val="1350"/>
              <a:buFont typeface="Arial"/>
              <a:buChar char="•"/>
            </a:pPr>
            <a:r>
              <a:rPr lang="en-US" sz="1050" b="0" i="0" u="none" strike="noStrike" cap="none" dirty="0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Connect with government resources and local revitalization teams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lnSpc>
                <a:spcPct val="118000"/>
              </a:lnSpc>
              <a:spcBef>
                <a:spcPts val="400"/>
              </a:spcBef>
              <a:spcAft>
                <a:spcPts val="0"/>
              </a:spcAft>
              <a:buClr>
                <a:srgbClr val="2A2E26"/>
              </a:buClr>
              <a:buSzPts val="1350"/>
              <a:buFont typeface="Arial"/>
              <a:buChar char="•"/>
            </a:pPr>
            <a:r>
              <a:rPr lang="en-US" sz="1050" b="0" i="0" u="none" strike="noStrike" cap="none" dirty="0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Example: your own strawberries + nearby honey + tea = a signature Yilan gift box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7"/>
          <p:cNvSpPr/>
          <p:nvPr/>
        </p:nvSpPr>
        <p:spPr>
          <a:xfrm>
            <a:off x="960120" y="5303520"/>
            <a:ext cx="4709160" cy="548640"/>
          </a:xfrm>
          <a:prstGeom prst="roundRect">
            <a:avLst>
              <a:gd name="adj" fmla="val 10000"/>
            </a:avLst>
          </a:prstGeom>
          <a:solidFill>
            <a:srgbClr val="F3F5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7"/>
          <p:cNvSpPr/>
          <p:nvPr/>
        </p:nvSpPr>
        <p:spPr>
          <a:xfrm>
            <a:off x="1097280" y="5303520"/>
            <a:ext cx="44348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2C5F2D"/>
                </a:solidFill>
                <a:latin typeface="Arial"/>
                <a:ea typeface="Arial"/>
                <a:cs typeface="Arial"/>
                <a:sym typeface="Arial"/>
              </a:rPr>
              <a:t>Core:</a:t>
            </a:r>
            <a:r>
              <a:rPr lang="en-US" sz="1300" b="0" i="0" u="none" strike="noStrike" cap="non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It’s not about doing everything alone — it’s about creating value together.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7"/>
          <p:cNvSpPr/>
          <p:nvPr/>
        </p:nvSpPr>
        <p:spPr>
          <a:xfrm>
            <a:off x="6492240" y="1737360"/>
            <a:ext cx="5349240" cy="4343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7"/>
          <p:cNvSpPr/>
          <p:nvPr/>
        </p:nvSpPr>
        <p:spPr>
          <a:xfrm>
            <a:off x="6858000" y="2103120"/>
            <a:ext cx="914400" cy="914400"/>
          </a:xfrm>
          <a:prstGeom prst="ellipse">
            <a:avLst/>
          </a:prstGeom>
          <a:solidFill>
            <a:srgbClr val="B0713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7"/>
          <p:cNvSpPr/>
          <p:nvPr/>
        </p:nvSpPr>
        <p:spPr>
          <a:xfrm>
            <a:off x="6858000" y="210312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7"/>
          <p:cNvSpPr/>
          <p:nvPr/>
        </p:nvSpPr>
        <p:spPr>
          <a:xfrm>
            <a:off x="7955280" y="2121408"/>
            <a:ext cx="36118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713C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B0713C"/>
                </a:solidFill>
                <a:latin typeface="Arial"/>
                <a:ea typeface="Arial"/>
                <a:cs typeface="Arial"/>
                <a:sym typeface="Arial"/>
              </a:rPr>
              <a:t>BRAND STORY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7"/>
          <p:cNvSpPr/>
          <p:nvPr/>
        </p:nvSpPr>
        <p:spPr>
          <a:xfrm>
            <a:off x="7955280" y="2395728"/>
            <a:ext cx="36118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2E26"/>
              </a:buClr>
              <a:buSzPts val="2100"/>
              <a:buFont typeface="Arial"/>
              <a:buNone/>
            </a:pPr>
            <a:r>
              <a:rPr lang="en-US" sz="2000" b="1" i="0" u="none" strike="noStrike" cap="non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Brand Story Design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7"/>
          <p:cNvSpPr/>
          <p:nvPr/>
        </p:nvSpPr>
        <p:spPr>
          <a:xfrm>
            <a:off x="6903720" y="3081528"/>
            <a:ext cx="45720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350"/>
              <a:buFont typeface="Arial"/>
              <a:buNone/>
            </a:pPr>
            <a:r>
              <a:rPr lang="en-US" sz="1350" b="0" i="1" u="none" strike="noStrike" cap="non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A brand isn’t a logo — a brand is a story.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7"/>
          <p:cNvSpPr/>
          <p:nvPr/>
        </p:nvSpPr>
        <p:spPr>
          <a:xfrm>
            <a:off x="6995160" y="3904488"/>
            <a:ext cx="448056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77800" marR="0" lvl="0" indent="-17780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2A2E26"/>
              </a:buClr>
              <a:buSzPts val="1350"/>
              <a:buFont typeface="Arial"/>
              <a:buChar char="•"/>
            </a:pPr>
            <a:r>
              <a:rPr lang="en-US" sz="1050" b="0" i="0" u="none" strike="noStrike" cap="non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Who are we? What do we grow? Why do we grow it this way?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lnSpc>
                <a:spcPct val="118000"/>
              </a:lnSpc>
              <a:spcBef>
                <a:spcPts val="400"/>
              </a:spcBef>
              <a:spcAft>
                <a:spcPts val="0"/>
              </a:spcAft>
              <a:buClr>
                <a:srgbClr val="2A2E26"/>
              </a:buClr>
              <a:buSzPts val="1350"/>
              <a:buFont typeface="Arial"/>
              <a:buChar char="•"/>
            </a:pPr>
            <a:r>
              <a:rPr lang="en-US" sz="1050" b="0" i="0" u="none" strike="noStrike" cap="non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What’s special about this land? What problem are we trying to solve?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lnSpc>
                <a:spcPct val="118000"/>
              </a:lnSpc>
              <a:spcBef>
                <a:spcPts val="400"/>
              </a:spcBef>
              <a:spcAft>
                <a:spcPts val="0"/>
              </a:spcAft>
              <a:buClr>
                <a:srgbClr val="2A2E26"/>
              </a:buClr>
              <a:buSzPts val="1350"/>
              <a:buFont typeface="Arial"/>
              <a:buChar char="•"/>
            </a:pPr>
            <a:r>
              <a:rPr lang="en-US" sz="1050" b="0" i="0" u="none" strike="noStrike" cap="non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Example: Yilan’s heavy rain → choose weather-resistant sugarcane → make use of surplus material → reduce waste and create value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7"/>
          <p:cNvSpPr/>
          <p:nvPr/>
        </p:nvSpPr>
        <p:spPr>
          <a:xfrm>
            <a:off x="6812280" y="5303520"/>
            <a:ext cx="4709160" cy="548640"/>
          </a:xfrm>
          <a:prstGeom prst="roundRect">
            <a:avLst>
              <a:gd name="adj" fmla="val 10000"/>
            </a:avLst>
          </a:prstGeom>
          <a:solidFill>
            <a:srgbClr val="F3F5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7"/>
          <p:cNvSpPr/>
          <p:nvPr/>
        </p:nvSpPr>
        <p:spPr>
          <a:xfrm>
            <a:off x="6949440" y="5303520"/>
            <a:ext cx="44348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713C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B0713C"/>
                </a:solidFill>
                <a:latin typeface="Arial"/>
                <a:ea typeface="Arial"/>
                <a:cs typeface="Arial"/>
                <a:sym typeface="Arial"/>
              </a:rPr>
              <a:t>Core:</a:t>
            </a:r>
            <a:r>
              <a:rPr lang="en-US" sz="1300" b="0" i="0" u="none" strike="noStrike" cap="non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Use a story to make customers remember you — don’t compete on price.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7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7"/>
          <p:cNvSpPr/>
          <p:nvPr/>
        </p:nvSpPr>
        <p:spPr>
          <a:xfrm>
            <a:off x="457200" y="63550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AQUA TEAM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BFAF4"/>
        </a:solidFill>
        <a:effectLst/>
      </p:bgPr>
    </p:bg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8"/>
          <p:cNvSpPr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713C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B0713C"/>
                </a:solidFill>
                <a:latin typeface="Arial"/>
                <a:ea typeface="Arial"/>
                <a:cs typeface="Arial"/>
                <a:sym typeface="Arial"/>
              </a:rPr>
              <a:t>STEP 7 · Core Concept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8"/>
          <p:cNvSpPr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2C5F2D"/>
                </a:solidFill>
                <a:latin typeface="Arial"/>
                <a:ea typeface="Arial"/>
                <a:cs typeface="Arial"/>
                <a:sym typeface="Arial"/>
              </a:rPr>
              <a:t>Validate at Small Scale, Build a Repeatable Model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8"/>
          <p:cNvSpPr/>
          <p:nvPr/>
        </p:nvSpPr>
        <p:spPr>
          <a:xfrm>
            <a:off x="640080" y="1737360"/>
            <a:ext cx="5349240" cy="4343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8"/>
          <p:cNvSpPr/>
          <p:nvPr/>
        </p:nvSpPr>
        <p:spPr>
          <a:xfrm>
            <a:off x="1005840" y="2103120"/>
            <a:ext cx="914400" cy="91440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8"/>
          <p:cNvSpPr/>
          <p:nvPr/>
        </p:nvSpPr>
        <p:spPr>
          <a:xfrm>
            <a:off x="1005840" y="210312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8"/>
          <p:cNvSpPr/>
          <p:nvPr/>
        </p:nvSpPr>
        <p:spPr>
          <a:xfrm>
            <a:off x="2103120" y="2121408"/>
            <a:ext cx="36118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2C5F2D"/>
                </a:solidFill>
                <a:latin typeface="Arial"/>
                <a:ea typeface="Arial"/>
                <a:cs typeface="Arial"/>
                <a:sym typeface="Arial"/>
              </a:rPr>
              <a:t>PROTOTYPE &amp; TEST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8"/>
          <p:cNvSpPr/>
          <p:nvPr/>
        </p:nvSpPr>
        <p:spPr>
          <a:xfrm>
            <a:off x="2103120" y="2395728"/>
            <a:ext cx="36118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2E26"/>
              </a:buClr>
              <a:buSzPts val="2100"/>
              <a:buFont typeface="Arial"/>
              <a:buNone/>
            </a:pPr>
            <a:r>
              <a:rPr lang="en-US" sz="2100" b="1" i="0" u="none" strike="noStrike" cap="none" dirty="0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Validation &amp; Optimization</a:t>
            </a:r>
            <a:endParaRPr sz="2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8"/>
          <p:cNvSpPr/>
          <p:nvPr/>
        </p:nvSpPr>
        <p:spPr>
          <a:xfrm>
            <a:off x="1051560" y="301752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350"/>
              <a:buFont typeface="Arial"/>
              <a:buNone/>
            </a:pPr>
            <a:r>
              <a:rPr lang="en-US" sz="1350" b="0" i="1" u="none" strike="noStrike" cap="non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Don’t do it all at once — start with small-scale testing.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8"/>
          <p:cNvSpPr/>
          <p:nvPr/>
        </p:nvSpPr>
        <p:spPr>
          <a:xfrm>
            <a:off x="1143000" y="3611880"/>
            <a:ext cx="448056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77800" marR="0" lvl="0" indent="-177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A2E26"/>
              </a:buClr>
              <a:buSzPts val="1400"/>
              <a:buFont typeface="Arial"/>
              <a:buChar char="•"/>
            </a:pPr>
            <a:r>
              <a:rPr lang="en-US" sz="1400" b="0" i="0" u="none" strike="noStrike" cap="none" dirty="0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Tastings, market sales, surveys, interviews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2A2E26"/>
              </a:buClr>
              <a:buSzPts val="1400"/>
              <a:buFont typeface="Arial"/>
              <a:buChar char="•"/>
            </a:pPr>
            <a:r>
              <a:rPr lang="en-US" sz="1400" b="0" i="0" u="none" strike="noStrike" cap="none" dirty="0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Observe </a:t>
            </a:r>
            <a:r>
              <a:rPr lang="en-US" sz="1050" b="0" i="0" u="none" strike="noStrike" cap="none" dirty="0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purchase</a:t>
            </a:r>
            <a:r>
              <a:rPr lang="en-US" sz="1400" b="0" i="0" u="none" strike="noStrike" cap="none" dirty="0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 rates and community feedback, then refine again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2A2E26"/>
              </a:buClr>
              <a:buSzPts val="1400"/>
              <a:buFont typeface="Arial"/>
              <a:buChar char="•"/>
            </a:pPr>
            <a:r>
              <a:rPr lang="en-US" sz="1400" b="0" i="0" u="none" strike="noStrike" cap="none" dirty="0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Document the processing / branding / packaging / sales workflow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2A2E26"/>
              </a:buClr>
              <a:buSzPts val="1400"/>
              <a:buFont typeface="Arial"/>
              <a:buChar char="•"/>
            </a:pPr>
            <a:r>
              <a:rPr lang="en-US" sz="1400" b="0" i="0" u="none" strike="noStrike" cap="none" dirty="0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Form a repeatable model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8"/>
          <p:cNvSpPr/>
          <p:nvPr/>
        </p:nvSpPr>
        <p:spPr>
          <a:xfrm>
            <a:off x="960120" y="5303520"/>
            <a:ext cx="4709160" cy="548640"/>
          </a:xfrm>
          <a:prstGeom prst="roundRect">
            <a:avLst>
              <a:gd name="adj" fmla="val 10000"/>
            </a:avLst>
          </a:prstGeom>
          <a:solidFill>
            <a:srgbClr val="F3F5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8"/>
          <p:cNvSpPr/>
          <p:nvPr/>
        </p:nvSpPr>
        <p:spPr>
          <a:xfrm>
            <a:off x="1097280" y="5303520"/>
            <a:ext cx="44348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2C5F2D"/>
                </a:solidFill>
                <a:latin typeface="Arial"/>
                <a:ea typeface="Arial"/>
                <a:cs typeface="Arial"/>
                <a:sym typeface="Arial"/>
              </a:rPr>
              <a:t>Core:</a:t>
            </a:r>
            <a:r>
              <a:rPr lang="en-US" sz="1300" b="0" i="0" u="none" strike="noStrike" cap="non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Validate in small steps first, then scale up.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8"/>
          <p:cNvSpPr/>
          <p:nvPr/>
        </p:nvSpPr>
        <p:spPr>
          <a:xfrm>
            <a:off x="6492240" y="1737360"/>
            <a:ext cx="5074920" cy="4343400"/>
          </a:xfrm>
          <a:prstGeom prst="roundRect">
            <a:avLst>
              <a:gd name="adj" fmla="val 2105"/>
            </a:avLst>
          </a:prstGeom>
          <a:solidFill>
            <a:srgbClr val="2C5F2D"/>
          </a:solidFill>
          <a:ln>
            <a:noFill/>
          </a:ln>
          <a:effectLst>
            <a:outerShdw blurRad="88900" dist="38100" dir="54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74" name="Google Shape;474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49440" y="224028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8"/>
          <p:cNvSpPr/>
          <p:nvPr/>
        </p:nvSpPr>
        <p:spPr>
          <a:xfrm>
            <a:off x="6995160" y="301752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7BC62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97BC62"/>
                </a:solidFill>
                <a:latin typeface="Arial"/>
                <a:ea typeface="Arial"/>
                <a:cs typeface="Arial"/>
                <a:sym typeface="Arial"/>
              </a:rPr>
              <a:t>The whole toolkit, in one sentence: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8"/>
          <p:cNvSpPr/>
          <p:nvPr/>
        </p:nvSpPr>
        <p:spPr>
          <a:xfrm>
            <a:off x="6995160" y="3291840"/>
            <a:ext cx="416052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lang="en-US" sz="18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From “Growing Agricultural Products,”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lang="en-US" sz="18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Toward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6A340"/>
              </a:buClr>
              <a:buSzPts val="2900"/>
              <a:buFont typeface="Arial"/>
              <a:buNone/>
            </a:pPr>
            <a:r>
              <a:rPr lang="en-US" sz="1800" b="1" i="0" u="none" strike="noStrike" cap="none" dirty="0">
                <a:solidFill>
                  <a:srgbClr val="D6A340"/>
                </a:solidFill>
                <a:latin typeface="Arial"/>
                <a:ea typeface="Arial"/>
                <a:cs typeface="Arial"/>
                <a:sym typeface="Arial"/>
              </a:rPr>
              <a:t>“Creating Brand Value.”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8"/>
          <p:cNvSpPr/>
          <p:nvPr/>
        </p:nvSpPr>
        <p:spPr>
          <a:xfrm>
            <a:off x="6995160" y="4754880"/>
            <a:ext cx="41605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5E3C6"/>
              </a:buClr>
              <a:buSzPts val="1350"/>
              <a:buFont typeface="Arial"/>
              <a:buNone/>
            </a:pPr>
            <a:r>
              <a:rPr lang="en-US" sz="1050" b="0" i="0" u="none" strike="noStrike" cap="none" dirty="0">
                <a:solidFill>
                  <a:srgbClr val="D5E3C6"/>
                </a:solidFill>
                <a:latin typeface="Arial"/>
                <a:ea typeface="Arial"/>
                <a:cs typeface="Arial"/>
                <a:sym typeface="Arial"/>
              </a:rPr>
              <a:t>By rediscovering crops, exploring processing possibilities, and connecting local resources with market demand, every small farmer can use a systematic process to turn agricultural products into a brand with a story, character, and competitive edge.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8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8"/>
          <p:cNvSpPr/>
          <p:nvPr/>
        </p:nvSpPr>
        <p:spPr>
          <a:xfrm>
            <a:off x="457200" y="63550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AQUA TEAM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1741</Words>
  <Application>Microsoft Office PowerPoint</Application>
  <PresentationFormat>寬螢幕</PresentationFormat>
  <Paragraphs>258</Paragraphs>
  <Slides>18</Slides>
  <Notes>18</Notes>
  <HiddenSlides>4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AQUA TEAM</dc:creator>
  <cp:lastModifiedBy>丁芯蕾</cp:lastModifiedBy>
  <cp:revision>1</cp:revision>
  <dcterms:created xsi:type="dcterms:W3CDTF">2026-07-02T06:15:10Z</dcterms:created>
  <dcterms:modified xsi:type="dcterms:W3CDTF">2026-07-05T17:42:17Z</dcterms:modified>
</cp:coreProperties>
</file>