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hh5a6RK3zsHttjRIx9+psxfRC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05be249d1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05be249d1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05be249d1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4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7.jpg"/><Relationship Id="rId5" Type="http://schemas.openxmlformats.org/officeDocument/2006/relationships/image" Target="../media/image4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hyperlink" Target="https://tjimmy0113.github.io/tu-lu-toolkit/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40.jpg"/><Relationship Id="rId5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3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Relationship Id="rId5" Type="http://schemas.openxmlformats.org/officeDocument/2006/relationships/image" Target="../media/image50.png"/><Relationship Id="rId6" Type="http://schemas.openxmlformats.org/officeDocument/2006/relationships/image" Target="../media/image5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5.png"/><Relationship Id="rId9" Type="http://schemas.openxmlformats.org/officeDocument/2006/relationships/image" Target="../media/image54.jp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52.jpg"/><Relationship Id="rId8" Type="http://schemas.openxmlformats.org/officeDocument/2006/relationships/image" Target="../media/image5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4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D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6E9E4F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C5F2D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9601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645920" y="1024128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2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QUA TEAM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2860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從農產品到品牌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34290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一套讓小農</a:t>
            </a:r>
            <a:r>
              <a:rPr b="1" i="0" lang="en-US" sz="30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從 0 開始</a:t>
            </a: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打造田園生活的工具包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4343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From Crop to Brand  ·  作物一物多用 × 品牌黏著度 × 穩定收入模式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58064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3B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3BC"/>
                </a:solidFill>
                <a:latin typeface="Arial"/>
                <a:ea typeface="Arial"/>
                <a:cs typeface="Arial"/>
                <a:sym typeface="Arial"/>
              </a:rPr>
              <a:t>五天四夜農村採訪 · 田園夢的實踐提案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 title="LINE_ALBUM_簡報用_260702_5.jpg"/>
          <p:cNvPicPr preferRelativeResize="0"/>
          <p:nvPr/>
        </p:nvPicPr>
        <p:blipFill rotWithShape="1">
          <a:blip r:embed="rId4">
            <a:alphaModFix/>
          </a:blip>
          <a:srcRect b="0" l="0" r="25345" t="0"/>
          <a:stretch/>
        </p:blipFill>
        <p:spPr>
          <a:xfrm>
            <a:off x="8351175" y="0"/>
            <a:ext cx="38405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開場 · THE CHALLENGE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許多人有田園夢，卻倒在現實裡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我們發現，農村體驗與小農創業最大的難關不是熱情，而是「經濟能不能撐下去」。這套工具包就是為了回答這個問題。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514600"/>
            <a:ext cx="3520440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05840" y="2926080"/>
            <a:ext cx="1005840" cy="10058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063240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005840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作物一物多用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05840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榨乾每一分價值，讓作物做出最有效的利用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44568" y="2514600"/>
            <a:ext cx="3520440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910328" y="2926080"/>
            <a:ext cx="1005840" cy="100584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967728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910328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品牌與口碑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910328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從只來一次，到建立長期關係、還推薦朋友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449056" y="2514600"/>
            <a:ext cx="3520440" cy="310896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14816" y="2926080"/>
            <a:ext cx="1005840" cy="100584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0848" y="318211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0872216" y="2834640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F5EC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3F5E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814816" y="411480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穩定收入模式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814816" y="4617720"/>
            <a:ext cx="2880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最重要的一步：讓收入可預測、可複製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E3D1C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6E9E4F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PART 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作物如何一物多用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41248" y="35204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From Crop to Brand — 從農產品到品牌的七步驟工作流程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 title="LINE_ALBUM_簡報用_260702_1.jpg"/>
          <p:cNvPicPr preferRelativeResize="0"/>
          <p:nvPr/>
        </p:nvPicPr>
        <p:blipFill rotWithShape="1">
          <a:blip r:embed="rId4">
            <a:alphaModFix/>
          </a:blip>
          <a:srcRect b="0" l="15627" r="15565" t="0"/>
          <a:stretch/>
        </p:blipFill>
        <p:spPr>
          <a:xfrm>
            <a:off x="7778813" y="3383275"/>
            <a:ext cx="4412850" cy="360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 title="LINE_ALBUM_簡報用_260702_4.jpg"/>
          <p:cNvPicPr preferRelativeResize="0"/>
          <p:nvPr/>
        </p:nvPicPr>
        <p:blipFill rotWithShape="1">
          <a:blip r:embed="rId5">
            <a:alphaModFix/>
          </a:blip>
          <a:srcRect b="0" l="12835" r="15899" t="0"/>
          <a:stretch/>
        </p:blipFill>
        <p:spPr>
          <a:xfrm>
            <a:off x="7778825" y="-101223"/>
            <a:ext cx="4412850" cy="348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TOOLKIT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農產加工品牌 Toolkit ｜ 七個步驟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40080" y="16916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68680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1737360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737360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作物資源盤點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96112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找出作物特性、剩餘資源與在地優勢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547872" y="16916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776472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0208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4645152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645152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顧客需求地圖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803904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明確定義目標客群與市場需求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55664" y="16916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6684264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7552944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552944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加工可能性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711696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一個作物對應多元加工方向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363456" y="16916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592056" y="19476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65792" y="21214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0460736" y="1965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460736" y="22219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案例與靈感庫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619488" y="28072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國內外成功案例與跨領域合作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093976" y="37490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322576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6312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3191256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191256" y="4279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在地合作網絡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350008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串聯小農、加工廠、設計、學研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01768" y="37490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230368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04104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6099048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099048" y="4279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品牌故事模板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257800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建立品牌理念、特色與地方價值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909560" y="3749040"/>
            <a:ext cx="265176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8138160" y="4005072"/>
            <a:ext cx="713232" cy="713232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1896" y="41788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900684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006840" y="427939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MVP 驗證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165592" y="486460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小量試作、測試市場、持續優化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193838" y="5879600"/>
            <a:ext cx="38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10"/>
              </a:rPr>
              <a:t>https://tjimmy0113.github.io/tu-lu-toolkit/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5be249d1_2_2"/>
          <p:cNvSpPr/>
          <p:nvPr/>
        </p:nvSpPr>
        <p:spPr>
          <a:xfrm>
            <a:off x="594250" y="657675"/>
            <a:ext cx="10972800" cy="5423100"/>
          </a:xfrm>
          <a:prstGeom prst="roundRect">
            <a:avLst>
              <a:gd fmla="val 2105" name="adj"/>
            </a:avLst>
          </a:prstGeom>
          <a:solidFill>
            <a:srgbClr val="2C5F2D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g3f05be249d1_2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340" y="14841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05be249d1_2_2"/>
          <p:cNvSpPr/>
          <p:nvPr/>
        </p:nvSpPr>
        <p:spPr>
          <a:xfrm>
            <a:off x="1621450" y="1626575"/>
            <a:ext cx="99456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從「種出農產品」，</a:t>
            </a:r>
            <a:endParaRPr b="1" i="0" sz="3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走向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900"/>
              <a:buFont typeface="Arial"/>
              <a:buNone/>
            </a:pPr>
            <a:r>
              <a:rPr b="1" i="0" lang="en-US" sz="36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「創造品牌價值」。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05be249d1_2_2"/>
          <p:cNvSpPr/>
          <p:nvPr/>
        </p:nvSpPr>
        <p:spPr>
          <a:xfrm>
            <a:off x="1691800" y="4217750"/>
            <a:ext cx="38334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5E3C6"/>
              </a:buClr>
              <a:buSzPts val="1350"/>
              <a:buFont typeface="Arial"/>
              <a:buNone/>
            </a:pPr>
            <a:r>
              <a:rPr b="0" i="0" lang="en-US" sz="1200" u="none" cap="none" strike="noStrike">
                <a:solidFill>
                  <a:srgbClr val="D5E3C6"/>
                </a:solidFill>
                <a:latin typeface="Arial"/>
                <a:ea typeface="Arial"/>
                <a:cs typeface="Arial"/>
                <a:sym typeface="Arial"/>
              </a:rPr>
              <a:t>重新認識作物、探索加工可能、連結在地資源與市場需求，讓每位小農都能用系統化流程，把農產品變成有故事、有特色、有競爭力的品牌。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05be249d1_2_2"/>
          <p:cNvSpPr/>
          <p:nvPr/>
        </p:nvSpPr>
        <p:spPr>
          <a:xfrm>
            <a:off x="11277295" y="6355080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05be249d1_2_2"/>
          <p:cNvSpPr/>
          <p:nvPr/>
        </p:nvSpPr>
        <p:spPr>
          <a:xfrm>
            <a:off x="457200" y="635508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f05be249d1_2_2" title="LINE_ALBUM_簡報用_260702_6.jpg"/>
          <p:cNvPicPr preferRelativeResize="0"/>
          <p:nvPr/>
        </p:nvPicPr>
        <p:blipFill rotWithShape="1">
          <a:blip r:embed="rId4">
            <a:alphaModFix/>
          </a:blip>
          <a:srcRect b="0" l="0" r="7910" t="0"/>
          <a:stretch/>
        </p:blipFill>
        <p:spPr>
          <a:xfrm>
            <a:off x="6841763" y="657675"/>
            <a:ext cx="4725287" cy="28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f05be249d1_2_2" title="LINE_ALBUM_簡報用_260702_7.jpg"/>
          <p:cNvPicPr preferRelativeResize="0"/>
          <p:nvPr/>
        </p:nvPicPr>
        <p:blipFill rotWithShape="1">
          <a:blip r:embed="rId5">
            <a:alphaModFix/>
          </a:blip>
          <a:srcRect b="33169" l="0" r="0" t="26513"/>
          <a:stretch/>
        </p:blipFill>
        <p:spPr>
          <a:xfrm>
            <a:off x="6841775" y="3458619"/>
            <a:ext cx="4725274" cy="2625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713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9A5F3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D6A34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2344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3C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E3C7"/>
                </a:solidFill>
                <a:latin typeface="Arial"/>
                <a:ea typeface="Arial"/>
                <a:cs typeface="Arial"/>
                <a:sym typeface="Arial"/>
              </a:rPr>
              <a:t>PART 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品牌黏著度與口碑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41248" y="35204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9D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E9D6"/>
                </a:solidFill>
                <a:latin typeface="Arial"/>
                <a:ea typeface="Arial"/>
                <a:cs typeface="Arial"/>
                <a:sym typeface="Arial"/>
              </a:rPr>
              <a:t>信任 → 情感 → 回購：讓一次購買變成長期關係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 title="LINE_ALBUM_簡報用_260702_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2475" y="-1994300"/>
            <a:ext cx="5029200" cy="8937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品牌三步驟 · THE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口碑，其實是三個階段的累積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74317" y="2135125"/>
            <a:ext cx="3200400" cy="29262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280158" y="2546605"/>
            <a:ext cx="1188600" cy="11886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77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274317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74317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信任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57197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讓消費者敢第一次買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0750" y="3323845"/>
            <a:ext cx="50292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4480558" y="2135125"/>
            <a:ext cx="3200400" cy="29262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5486397" y="2546605"/>
            <a:ext cx="1188600" cy="11886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718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4480558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480558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情感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663438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讓消費者願意留下來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6990" y="3323845"/>
            <a:ext cx="50292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0"/>
          <p:cNvSpPr/>
          <p:nvPr/>
        </p:nvSpPr>
        <p:spPr>
          <a:xfrm>
            <a:off x="8686798" y="2135125"/>
            <a:ext cx="3200400" cy="29262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9692638" y="2546605"/>
            <a:ext cx="1188600" cy="118860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6957" y="282092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8686798" y="391820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REPURCHASE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8686798" y="4192525"/>
            <a:ext cx="3200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回購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869678" y="4649725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讓一次購買變成習慣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信任讓人願意第一次購買；情感讓人願意留下來；回購讓關係變成長期習慣。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0" title="LINE_ALBUM_簡報用_260702_4.jpg"/>
          <p:cNvPicPr preferRelativeResize="0"/>
          <p:nvPr/>
        </p:nvPicPr>
        <p:blipFill rotWithShape="1">
          <a:blip r:embed="rId7">
            <a:alphaModFix/>
          </a:blip>
          <a:srcRect b="11492" l="12627" r="-7279" t="-7259"/>
          <a:stretch/>
        </p:blipFill>
        <p:spPr>
          <a:xfrm>
            <a:off x="7711569" y="84264"/>
            <a:ext cx="3281542" cy="186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STEP 1 · TRUST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78308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建立信任：讓人</a:t>
            </a:r>
            <a:r>
              <a:rPr b="1" lang="en-US" sz="3000">
                <a:solidFill>
                  <a:srgbClr val="2C5F2D"/>
                </a:solidFill>
              </a:rPr>
              <a:t>願意</a:t>
            </a:r>
            <a:r>
              <a:rPr b="1" i="0" lang="en-US" sz="30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第一次</a:t>
            </a:r>
            <a:r>
              <a:rPr b="1" lang="en-US" sz="3000">
                <a:solidFill>
                  <a:srgbClr val="2C5F2D"/>
                </a:solidFill>
              </a:rPr>
              <a:t>購</a:t>
            </a:r>
            <a:r>
              <a:rPr b="1" i="0" lang="en-US" sz="30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買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農產品最大的問題是「不確定」——是否天然、是否安全、為什麼比較貴。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降低資訊不對稱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農場／工廠參訪、QR code 產地追溯、生產影片，讓消費者看見產品怎麼被做出來。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知識教育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定期分享健康與自然農法的價值，讓消費者理解表層之下的意義。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真實故事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比起企業包裝，人更相信「真實的人」——農夫日常、創立故事、土地與文化。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fmla="val 12903" name="adj"/>
            </a:avLst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消費者信任的不是產品本身，而是「人」與整個生產過程。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1" title="LINE_ALBUM_簡報用_260702_3.jpg"/>
          <p:cNvPicPr preferRelativeResize="0"/>
          <p:nvPr/>
        </p:nvPicPr>
        <p:blipFill rotWithShape="1">
          <a:blip r:embed="rId6">
            <a:alphaModFix/>
          </a:blip>
          <a:srcRect b="0" l="-11757" r="0" t="0"/>
          <a:stretch/>
        </p:blipFill>
        <p:spPr>
          <a:xfrm>
            <a:off x="8001501" y="137935"/>
            <a:ext cx="3331301" cy="187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2 · EMOTION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78308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建立情感：讓人願意留下來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信任建立後，下一步不是推銷，而是讓消費者進入品牌的世界。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沉浸式體驗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採收、DIY 加工、農場活動，讓顧客透過親身參與留下記憶。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人與人的連結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農夫本人下場導覽，建立真正有溫度的互動關係。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2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生活化滲透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經營社群帳號、分享食譜內容、真實 KOL 分享，讓品牌進入日常。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fmla="val 12903" name="adj"/>
            </a:avLst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情感連結，讓品牌從「一次買賣」變成「一段關係」。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2" title="LINE_ALBUM_簡報用_260702_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7267" y="202801"/>
            <a:ext cx="2880376" cy="1808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640080" y="457200"/>
            <a:ext cx="960120" cy="96012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640080" y="45720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783080" y="502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STEP 3 · REPURCHASE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783080" y="7772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建立回購：讓習慣自己發生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重點是：如何讓一次購買，變成長期的消費習慣。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3"/>
          <p:cNvSpPr/>
          <p:nvPr/>
        </p:nvSpPr>
        <p:spPr>
          <a:xfrm>
            <a:off x="1005840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回購機制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1005840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會員制度、集點、折扣，讓回購更簡單、更有誘因。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44568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910328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496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/>
          <p:nvPr/>
        </p:nvSpPr>
        <p:spPr>
          <a:xfrm>
            <a:off x="4910328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訂閱模式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910328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定期農產箱、季節配送，顧客不必每次思考，固定收到。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449056" y="2286000"/>
            <a:ext cx="35204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8814816" y="2651760"/>
            <a:ext cx="822960" cy="822960"/>
          </a:xfrm>
          <a:prstGeom prst="ellipse">
            <a:avLst/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5984" y="285292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/>
          <p:nvPr/>
        </p:nvSpPr>
        <p:spPr>
          <a:xfrm>
            <a:off x="8814816" y="361188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社群擴散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814816" y="4114800"/>
            <a:ext cx="2880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推薦獎勵、帶朋友活動，讓老顧客變成品牌的推廣者。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40080" y="5669280"/>
            <a:ext cx="10908792" cy="566928"/>
          </a:xfrm>
          <a:prstGeom prst="roundRect">
            <a:avLst>
              <a:gd fmla="val 12903" name="adj"/>
            </a:avLst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回購來自便利、習慣，以及品牌持續的存在感。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13" title="LINE_ALBUM_簡報用_260702_11.jpg"/>
          <p:cNvPicPr preferRelativeResize="0"/>
          <p:nvPr/>
        </p:nvPicPr>
        <p:blipFill rotWithShape="1">
          <a:blip r:embed="rId6">
            <a:alphaModFix/>
          </a:blip>
          <a:srcRect b="22194" l="16906" r="13664" t="17496"/>
          <a:stretch/>
        </p:blipFill>
        <p:spPr>
          <a:xfrm>
            <a:off x="8164117" y="180500"/>
            <a:ext cx="2880375" cy="18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D1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-1371600" y="4023360"/>
            <a:ext cx="4114800" cy="4114800"/>
          </a:xfrm>
          <a:prstGeom prst="ellipse">
            <a:avLst/>
          </a:prstGeom>
          <a:solidFill>
            <a:srgbClr val="D6A34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23444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/>
          <p:nvPr/>
        </p:nvSpPr>
        <p:spPr>
          <a:xfrm>
            <a:off x="822960" y="19202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PART 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收入模式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841248" y="35204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最重要的一步：把熱情變成可預測、可持續的現金流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七大收入來源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40080" y="1600200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896112" y="18745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1645920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加工品銷售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914400" y="26060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果乾、果醬、茶包、米製品、禮盒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14400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主要現金流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547872" y="1600200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3803904" y="1874520"/>
            <a:ext cx="640080" cy="64008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0208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/>
          <p:nvPr/>
        </p:nvSpPr>
        <p:spPr>
          <a:xfrm>
            <a:off x="4553712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會員制度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3822192" y="26060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一般／熟客／VIP，消費累積或年費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3822192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提高回購率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455664" y="1600200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711696" y="1874520"/>
            <a:ext cx="640080" cy="64008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/>
          <p:nvPr/>
        </p:nvSpPr>
        <p:spPr>
          <a:xfrm>
            <a:off x="7461504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體驗活動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729984" y="26060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試吃會、手作課、農場參觀、親子採果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729984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創造回訪價值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9363456" y="1600200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9619488" y="1874520"/>
            <a:ext cx="640080" cy="640080"/>
          </a:xfrm>
          <a:prstGeom prst="ellipse">
            <a:avLst/>
          </a:prstGeom>
          <a:solidFill>
            <a:srgbClr val="6E9E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65792" y="20208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10369296" y="189280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學校合作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9637776" y="26060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校外教學、食農教育、課程包、教具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637776" y="30175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9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9E4F"/>
                </a:solidFill>
                <a:latin typeface="Arial"/>
                <a:ea typeface="Arial"/>
                <a:cs typeface="Arial"/>
                <a:sym typeface="Arial"/>
              </a:rPr>
              <a:t>穩定合作收入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2093976" y="3730752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2350008" y="4005072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6312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>
            <a:off x="3099816" y="4023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作物認購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2368296" y="473659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預購下一季農產或加工品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2368296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提前取得資金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001768" y="3730752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5257800" y="4005072"/>
            <a:ext cx="640080" cy="64008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1" name="Google Shape;3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04104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5"/>
          <p:cNvSpPr/>
          <p:nvPr/>
        </p:nvSpPr>
        <p:spPr>
          <a:xfrm>
            <a:off x="6007608" y="4023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推薦與團購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5276088" y="473659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企業禮盒、社區團購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5276088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擴大客源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7909560" y="3730752"/>
            <a:ext cx="2651760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8165592" y="4005072"/>
            <a:ext cx="640080" cy="64008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1896" y="4151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8915400" y="4023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教具教材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8183880" y="473659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食農教育包、種植包、學習單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183880" y="51480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延伸教育價值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4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09455" y="957008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2C5F2D"/>
                </a:solidFill>
              </a:rPr>
              <a:t>量化</a:t>
            </a: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指標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7984918" y="1803813"/>
            <a:ext cx="3520500" cy="192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8304958" y="2306733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3558" y="25353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/>
          <p:nvPr/>
        </p:nvSpPr>
        <p:spPr>
          <a:xfrm>
            <a:off x="9447958" y="2261013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回購率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9447958" y="273650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品牌是否讓顧客願意再次購買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335607" y="1803775"/>
            <a:ext cx="3520500" cy="192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4655647" y="2306695"/>
            <a:ext cx="914400" cy="914400"/>
          </a:xfrm>
          <a:prstGeom prst="ellipse">
            <a:avLst/>
          </a:prstGeom>
          <a:solidFill>
            <a:srgbClr val="D6A3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4235" y="253529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8"/>
          <p:cNvSpPr/>
          <p:nvPr/>
        </p:nvSpPr>
        <p:spPr>
          <a:xfrm>
            <a:off x="5798647" y="2260975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會員轉換率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5798647" y="2736463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有多少顧客願意加入會員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609455" y="1803822"/>
            <a:ext cx="3520500" cy="192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929495" y="2306742"/>
            <a:ext cx="914400" cy="914400"/>
          </a:xfrm>
          <a:prstGeom prst="ellipse">
            <a:avLst/>
          </a:prstGeom>
          <a:solidFill>
            <a:srgbClr val="6E9E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8095" y="253534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8"/>
          <p:cNvSpPr/>
          <p:nvPr/>
        </p:nvSpPr>
        <p:spPr>
          <a:xfrm>
            <a:off x="2072495" y="2261022"/>
            <a:ext cx="187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活動轉購率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072495" y="273651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參加活動後有多少人下單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856" y="5232708"/>
            <a:ext cx="372108" cy="37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57200" y="6355075"/>
            <a:ext cx="591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r>
              <a:rPr lang="en-US" sz="1000">
                <a:solidFill>
                  <a:srgbClr val="6B7266"/>
                </a:solidFill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8" title="LINE_ALBUM_簡報用_260702_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273" y="3997074"/>
            <a:ext cx="3412533" cy="19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8" title="LINE_ALBUM_簡報用_260702_8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2604" y="3997077"/>
            <a:ext cx="3412533" cy="192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8" title="LINE_ALBUM_簡報用_260702_12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38915" y="3997098"/>
            <a:ext cx="3412525" cy="1920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D1C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6E9E4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91440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9"/>
          <p:cNvSpPr/>
          <p:nvPr/>
        </p:nvSpPr>
        <p:spPr>
          <a:xfrm>
            <a:off x="777240" y="1920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讓每一根甘蔗，都</a:t>
            </a:r>
            <a:r>
              <a:rPr b="1" lang="en-US" sz="4000">
                <a:solidFill>
                  <a:srgbClr val="FFFFFF"/>
                </a:solidFill>
              </a:rPr>
              <a:t>能被榨乾</a:t>
            </a: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95525" y="3063254"/>
            <a:ext cx="105156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一物多用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，讓價值最大化；</a:t>
            </a:r>
            <a:endParaRPr b="1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品牌口碑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，讓關係</a:t>
            </a:r>
            <a:r>
              <a:rPr b="1" lang="en-US" sz="2200">
                <a:solidFill>
                  <a:srgbClr val="FFFFFF"/>
                </a:solidFill>
              </a:rPr>
              <a:t>更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長久；</a:t>
            </a:r>
            <a:endParaRPr b="1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6A340"/>
                </a:solidFill>
              </a:rPr>
              <a:t>多元</a:t>
            </a:r>
            <a:r>
              <a:rPr b="1" i="0" lang="en-US" sz="22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收入</a:t>
            </a: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，讓夢想撐得下去。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838040" y="436504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從「種出農產品」，走向「創造品牌價值」。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19"/>
          <p:cNvCxnSpPr/>
          <p:nvPr/>
        </p:nvCxnSpPr>
        <p:spPr>
          <a:xfrm>
            <a:off x="822960" y="502920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6E9E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19"/>
          <p:cNvSpPr/>
          <p:nvPr/>
        </p:nvSpPr>
        <p:spPr>
          <a:xfrm>
            <a:off x="822948" y="5212075"/>
            <a:ext cx="672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AQUA TEAM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aquaguy、aquagod、aquaman、aquawoman、kkbox、aquawarrior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3B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7D3BC"/>
                </a:solidFill>
                <a:latin typeface="Arial"/>
                <a:ea typeface="Arial"/>
                <a:cs typeface="Arial"/>
                <a:sym typeface="Arial"/>
              </a:rPr>
              <a:t>謝謝聆聽 · 一起把田園夢，變成可以生活的日常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9" title="LINE_ALBUM_簡報用_260702_1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546" y="0"/>
            <a:ext cx="385913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BFAF4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1–2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先認識作物，再認識市場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5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CROP DISCOVERY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5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重新認識你的作物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"/>
          <p:cNvSpPr/>
          <p:nvPr/>
        </p:nvSpPr>
        <p:spPr>
          <a:xfrm>
            <a:off x="1051560" y="3246120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我真正擁有什麼資源？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5"/>
          <p:cNvSpPr/>
          <p:nvPr/>
        </p:nvSpPr>
        <p:spPr>
          <a:xfrm>
            <a:off x="1143000" y="3837287"/>
            <a:ext cx="4480500" cy="15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主要作物有哪些？何時產量最多？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哪些容易剩下、外觀不好賣不掉？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哪些品質最好、最具地方特色？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產出：作物資源盤點表（例：甘蔗高甜度、耐風雨、剩料多）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把作物當「資源」，不只是農產品。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CUSTOMER DISCOVERY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重新觀察市場需求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/>
          <p:nvPr/>
        </p:nvSpPr>
        <p:spPr>
          <a:xfrm>
            <a:off x="6903720" y="324612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很多加工品失敗，不是產品不好，而是沒有人需要。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"/>
          <p:cNvSpPr/>
          <p:nvPr/>
        </p:nvSpPr>
        <p:spPr>
          <a:xfrm>
            <a:off x="6995160" y="40690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誰會買？觀光客、親子、露營、送禮、企業禮盒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他們真正想要的是方便、健康、體驗、故事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產出：顧客需求地圖（觀光客→想帶回宜蘭特色→伴手禮）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不要賣作物，要賣需求。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BFAF4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3–4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先發散可能性，再向世界借靈感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VALUE EXPANSION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發散加工可能性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/>
          <p:nvPr/>
        </p:nvSpPr>
        <p:spPr>
          <a:xfrm>
            <a:off x="1051560" y="324612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一種農產品，至少發想 10 種加工方式。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6"/>
          <p:cNvSpPr/>
          <p:nvPr/>
        </p:nvSpPr>
        <p:spPr>
          <a:xfrm>
            <a:off x="1143000" y="40690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米 → 米酒、米餅、米果、米冰淇淋、米奶、米香…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甘蔗 → 黑糖、糖漿、冰棒、發酵飲、DIY 材料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面向：食品／飲品／甜點／保養品／文創／體驗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6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不要只有一種答案，先大量發散。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6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INSPIRATION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尋找外部靈感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6903720" y="324612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不用重新發明，可以借鏡全世界。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6995160" y="40690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查詢日本、韓國、歐洲與台灣各縣市案例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地方創生、農會、文創品牌怎麼做？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跨領域合作：食品系、設計系、農改場、研究機構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6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不只找競爭者，更要找不同產業的靈感。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BFAF4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5–6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串起在地夥伴，說好品牌故事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7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7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LOCAL COLLABORATION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7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建立地方共創模式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7"/>
          <p:cNvSpPr/>
          <p:nvPr/>
        </p:nvSpPr>
        <p:spPr>
          <a:xfrm>
            <a:off x="1051560" y="324612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一位小農很難完成所有事，所以建立合作網絡。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1143000" y="40690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盤點：附近小農、加工廠、包裝設計、農會、餐廳、學校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串聯政府資源與地方創生團隊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例：自家草莓＋附近蜂蜜＋茶葉＝宜蘭特色禮盒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不是自己做全部，而是一起創造價值。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649224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6858000" y="2103120"/>
            <a:ext cx="914400" cy="914400"/>
          </a:xfrm>
          <a:prstGeom prst="ellipse">
            <a:avLst/>
          </a:prstGeom>
          <a:solidFill>
            <a:srgbClr val="B071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685800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795528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BRAND 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795528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品牌故事設計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6903720" y="324612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品牌不是 Logo，品牌是故事。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6995160" y="406908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我們是誰？種什麼？為什麼這樣種？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這片土地有什麼特色？想解決什麼問題？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  <a:buClr>
                <a:srgbClr val="2A2E26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例：宜蘭多雨→選耐候甘蔗→善用剩料→減少浪費、創造價值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681228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"/>
          <p:cNvSpPr/>
          <p:nvPr/>
        </p:nvSpPr>
        <p:spPr>
          <a:xfrm>
            <a:off x="694944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用故事讓顧客記住你，而不是比價格。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BFAF4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8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13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0713C"/>
                </a:solidFill>
                <a:latin typeface="Arial"/>
                <a:ea typeface="Arial"/>
                <a:cs typeface="Arial"/>
                <a:sym typeface="Arial"/>
              </a:rPr>
              <a:t>STEP 7 · 核心理念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小量驗證，形成可複製的模式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8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8"/>
          <p:cNvSpPr/>
          <p:nvPr/>
        </p:nvSpPr>
        <p:spPr>
          <a:xfrm>
            <a:off x="1005840" y="21031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2103120" y="2121408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PROTOTYPE &amp;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/>
          <p:nvPr/>
        </p:nvSpPr>
        <p:spPr>
          <a:xfrm>
            <a:off x="2103120" y="239572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驗證與優化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8"/>
          <p:cNvSpPr/>
          <p:nvPr/>
        </p:nvSpPr>
        <p:spPr>
          <a:xfrm>
            <a:off x="1051560" y="3200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不要一次做很多，先做小量測試。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1143000" y="3794760"/>
            <a:ext cx="4480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試吃、市集販售、問卷、訪談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觀察購買率與社群回饋，再次改良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留下加工／品牌／包裝／銷售流程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2A2E26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形成可複製的模式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960120" y="5303520"/>
            <a:ext cx="4709160" cy="548640"/>
          </a:xfrm>
          <a:prstGeom prst="roundRect">
            <a:avLst>
              <a:gd fmla="val 10000" name="adj"/>
            </a:avLst>
          </a:prstGeom>
          <a:solidFill>
            <a:srgbClr val="F3F5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8"/>
          <p:cNvSpPr/>
          <p:nvPr/>
        </p:nvSpPr>
        <p:spPr>
          <a:xfrm>
            <a:off x="1097280" y="53035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核心：</a:t>
            </a:r>
            <a:r>
              <a:rPr b="0" i="0" lang="en-US" sz="1300" u="none" cap="none" strike="noStrike">
                <a:solidFill>
                  <a:srgbClr val="2A2E26"/>
                </a:solidFill>
                <a:latin typeface="Arial"/>
                <a:ea typeface="Arial"/>
                <a:cs typeface="Arial"/>
                <a:sym typeface="Arial"/>
              </a:rPr>
              <a:t>先小步驗證，再放大複製。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8"/>
          <p:cNvSpPr/>
          <p:nvPr/>
        </p:nvSpPr>
        <p:spPr>
          <a:xfrm>
            <a:off x="6492240" y="1737360"/>
            <a:ext cx="5074920" cy="4343400"/>
          </a:xfrm>
          <a:prstGeom prst="roundRect">
            <a:avLst>
              <a:gd fmla="val 2105" name="adj"/>
            </a:avLst>
          </a:prstGeom>
          <a:solidFill>
            <a:srgbClr val="2C5F2D"/>
          </a:solidFill>
          <a:ln>
            <a:noFill/>
          </a:ln>
          <a:effectLst>
            <a:outerShdw blurRad="88900" rotWithShape="0" algn="bl" dir="5400000" dist="381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4" name="Google Shape;4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2240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8"/>
          <p:cNvSpPr/>
          <p:nvPr/>
        </p:nvSpPr>
        <p:spPr>
          <a:xfrm>
            <a:off x="6995160" y="301752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整套工具包，一句話：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8"/>
          <p:cNvSpPr/>
          <p:nvPr/>
        </p:nvSpPr>
        <p:spPr>
          <a:xfrm>
            <a:off x="6995160" y="3520440"/>
            <a:ext cx="4160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從「種出農產品」，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走向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A34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D6A340"/>
                </a:solidFill>
                <a:latin typeface="Arial"/>
                <a:ea typeface="Arial"/>
                <a:cs typeface="Arial"/>
                <a:sym typeface="Arial"/>
              </a:rPr>
              <a:t>「創造品牌價值」。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6995160" y="4983480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5E3C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5E3C6"/>
                </a:solidFill>
                <a:latin typeface="Arial"/>
                <a:ea typeface="Arial"/>
                <a:cs typeface="Arial"/>
                <a:sym typeface="Arial"/>
              </a:rPr>
              <a:t>重新認識作物、探索加工可能、連結在地資源與市場需求，讓每位小農都能用系統化流程，把農產品變成有故事、有特色、有競爭力的品牌。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8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66"/>
                </a:solidFill>
                <a:latin typeface="Arial"/>
                <a:ea typeface="Arial"/>
                <a:cs typeface="Arial"/>
                <a:sym typeface="Arial"/>
              </a:rPr>
              <a:t>AQUA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2026-07-02T06:15:10Z</dcterms:created>
  <dc:creator>AQUA TEAM</dc:creator>
</cp:coreProperties>
</file>